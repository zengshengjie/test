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notesSlides/notesSlide1.xml" Type="http://schemas.openxmlformats.org/officeDocument/2006/relationships/notesSlide"/><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presProps.xml" Type="http://schemas.openxmlformats.org/officeDocument/2006/relationships/presProps"/><Relationship Id="rId30" Target="notesSlides/notesSlide11.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Good morning/afternoon. Today I will present our work on a lightweight spatial-temporal fused transformer for urban pedestrian flow anomaly detection. The core idea is to build a parameter-efficient model that works well on small datasets like BJ-Taxi, where large pre-trained transformers tend to overfit.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presentation is organized into six sections. We start with the project background, then compare existing model families, dive into our lightweight STF architecture, describe the anomaly detection module, cover deployment and tooling, and conclude with a summary.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task is anomaly detection on urban pedestrian flow. We use the BJ-Taxi dataset with 1024 spatial grid nodes. The core challenge is that the dataset is relatively small, so large models overfit quickly, while smaller models miss long-range dependencies.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We compared three model families. Statistical methods are interpretable but cannot handle emergent events. Neural networks capture local spatial patterns but struggle with long temporal dependencies and static graphs. Deep Transformers are expressive but too large for small datasets. Our work targets the gap: Transformer-level accuracy with far fewer parameters.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baseline is AGFormer, a dynamic-graph Transformer with parallel attention. It is highly expressive but has a very large parameter count. On the relatively small BJ-Taxi dataset, fine-tuning it leads to overfitting. We therefore propose a lightweight Spatial-Temporal Factorized Transformer that matches or beats AGFormer accuracy with a fraction of the parameters.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STF architecture factorizes the input into two parallel branches. The Env branch aggregates all nodes globally through summation and a Transformer encoder. The Loc branch projects each node individually. These two streams are then fused via a single cross-attention layer, which is far cheaper than full pairwise self-attention. The output goes through temporal convolution, takes the last time step, and is decoded by an MLP to produce the 48-step forecast.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walks through the exact tensor shapes. Input is a 4D tensor. The Env branch sums over all nodes to produce a global context vector of shape B by T by 64. The Loc branch projects each node independently to BN by T by 64. Cross-attention fuses them, then temporal convolution and a last-step pooling reduce to B by N by 64. The MLP decoder outputs the final 48-step forecast for every node.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We use three complementary anomaly signals: statistical thresholding on time segments, prediction residual from our STF forecast, and reconstruction error from an autoencoder. The final score is a weighted fusion at 9 to 1, favoring prediction residual because it captures sustained large-scale deviations better. We acknowledge that manually injected anomalies have limited control groups, which is a known limitation we plan to address.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model is served via a FastAPI backend with a Streamlit frontend for visualization. We use Optuna for hyperparameter tuning, SHAP for feature-level interpretability, and PyTorch attention hooks to visualize the average attention distribution across all heads on the validation set. This gives us both quantitative attribution and qualitative insight into what the model is looking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summarize: we built a lightweight STF that matches or exceeds AGFormer accuracy on BJ-Taxi with fewer parameters, fused prediction-residual and reconstruction-based anomaly scoring at a 9-to-1 ratio, and deployed the full pipeline with FastAPI, Streamlit, Optuna, SHAP, and attention-hook analysis. Next, we plan to expand the anomaly evaluation suite and test on additional city datasets.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Thank you for your attention. I'm happy to take any questions about the STF architecture, the anomaly detection fusion, or the deployment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52400" cy="6858000"/>
          </a:xfrm>
          <a:prstGeom prst="roundRect">
            <a:avLst>
              <a:gd name="adj" fmla="val 0"/>
            </a:avLst>
          </a:prstGeom>
          <a:solidFill>
            <a:srgbClr val="2D6A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txBox="true"/>
          <p:nvPr/>
        </p:nvSpPr>
        <p:spPr>
          <a:xfrm rot="0" flipH="false" flipV="false">
            <a:off x="1016000" y="1524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2D6A4F"/>
                </a:solidFill>
                <a:latin typeface="IBM Plex Sans"/>
                <a:ea typeface="IBM Plex Sans"/>
                <a:cs typeface="IBM Plex Sans"/>
                <a:sym typeface="IBM Plex Sans"/>
              </a:rPr>
              <a:t>RESEARCH PRESENTATION</a:t>
            </a:r>
            <a:endParaRPr lang="en-US" sz="1100"/>
          </a:p>
        </p:txBody>
      </p:sp>
      <p:sp>
        <p:nvSpPr>
          <p:cNvPr name="AutoShape 4" id="4"/>
          <p:cNvSpPr txBox="true"/>
          <p:nvPr/>
        </p:nvSpPr>
        <p:spPr>
          <a:xfrm rot="0" flipH="false" flipV="false">
            <a:off x="1016000" y="2095500"/>
            <a:ext cx="10160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4166"/>
              </a:lnSpc>
              <a:defRPr/>
            </a:pPr>
            <a:r>
              <a:rPr lang="en-US" b="true" i="false" strike="noStrike" u="none" sz="3800">
                <a:solidFill>
                  <a:srgbClr val="1A1A2E"/>
                </a:solidFill>
                <a:latin typeface="IBM Plex Sans"/>
                <a:ea typeface="IBM Plex Sans"/>
                <a:cs typeface="IBM Plex Sans"/>
                <a:sym typeface="IBM Plex Sans"/>
              </a:rPr>
              <a:t>Lightweight Spatial-Temporal</a:t>
            </a:r>
            <a:endParaRPr lang="en-US" sz="1100"/>
          </a:p>
          <a:p>
            <a:pPr algn="l" marL="0" indent="0">
              <a:lnSpc>
                <a:spcPct val="104166"/>
              </a:lnSpc>
            </a:pPr>
            <a:r>
              <a:rPr lang="en-US" b="true" i="false" strike="noStrike" u="none" sz="3800">
                <a:solidFill>
                  <a:srgbClr val="1A1A2E"/>
                </a:solidFill>
                <a:latin typeface="IBM Plex Sans"/>
                <a:ea typeface="IBM Plex Sans"/>
                <a:cs typeface="IBM Plex Sans"/>
                <a:sym typeface="IBM Plex Sans"/>
              </a:rPr>
              <a:t>Fused Transformer for Urban</a:t>
            </a:r>
          </a:p>
          <a:p>
            <a:pPr algn="l" marL="0" indent="0">
              <a:lnSpc>
                <a:spcPct val="104166"/>
              </a:lnSpc>
            </a:pPr>
            <a:r>
              <a:rPr lang="en-US" b="true" i="false" strike="noStrike" u="none" sz="3800">
                <a:solidFill>
                  <a:srgbClr val="1A1A2E"/>
                </a:solidFill>
                <a:latin typeface="IBM Plex Sans"/>
                <a:ea typeface="IBM Plex Sans"/>
                <a:cs typeface="IBM Plex Sans"/>
                <a:sym typeface="IBM Plex Sans"/>
              </a:rPr>
              <a:t>Pedestrian Flow Anomaly Detection</a:t>
            </a:r>
          </a:p>
        </p:txBody>
      </p:sp>
      <p:cxnSp>
        <p:nvCxnSpPr>
          <p:cNvPr name="Connector 5" id="5"/>
          <p:cNvCxnSpPr/>
          <p:nvPr/>
        </p:nvCxnSpPr>
        <p:spPr>
          <a:xfrm rot="-28647" flipH="false" flipV="false">
            <a:off x="1016026" y="4502150"/>
            <a:ext cx="1524000" cy="12700"/>
          </a:xfrm>
          <a:prstGeom prst="straightConnector1">
            <a:avLst/>
          </a:prstGeom>
          <a:solidFill>
            <a:srgbClr val="DEE0E3">
              <a:alpha val="100000"/>
            </a:srgbClr>
          </a:solidFill>
          <a:ln w="25400" cmpd="sng" cap="flat">
            <a:solidFill>
              <a:srgbClr val="2D6A4F">
                <a:alpha val="100000"/>
              </a:srgbClr>
            </a:solidFill>
            <a:prstDash val="solid"/>
            <a:round/>
            <a:headEnd type="none" w="lg" len="lg"/>
            <a:tailEnd type="none" w="lg" len="lg"/>
          </a:ln>
        </p:spPr>
      </p:cxnSp>
      <p:sp>
        <p:nvSpPr>
          <p:cNvPr name="AutoShape 6" id="6"/>
          <p:cNvSpPr txBox="true"/>
          <p:nvPr/>
        </p:nvSpPr>
        <p:spPr>
          <a:xfrm rot="0" flipH="false" flipV="false">
            <a:off x="1016000" y="4699000"/>
            <a:ext cx="762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464646"/>
                </a:solidFill>
                <a:latin typeface="IBM Plex Sans"/>
                <a:ea typeface="IBM Plex Sans"/>
                <a:cs typeface="IBM Plex Sans"/>
                <a:sym typeface="IBM Plex Sans"/>
              </a:rPr>
              <a:t>A parameter-efficient STF architecture adapted to small-sample</a:t>
            </a:r>
            <a:endParaRPr lang="en-US" sz="1100"/>
          </a:p>
          <a:p>
            <a:pPr algn="l" marL="0" indent="0">
              <a:lnSpc>
                <a:spcPct val="133333"/>
              </a:lnSpc>
            </a:pPr>
            <a:r>
              <a:rPr lang="en-US" b="false" i="false" strike="noStrike" u="none" sz="1600">
                <a:solidFill>
                  <a:srgbClr val="464646"/>
                </a:solidFill>
                <a:latin typeface="IBM Plex Sans"/>
                <a:ea typeface="IBM Plex Sans"/>
                <a:cs typeface="IBM Plex Sans"/>
                <a:sym typeface="IBM Plex Sans"/>
              </a:rPr>
              <a:t>spatiotemporal forecasting on the BJ-Taxi dataset</a:t>
            </a:r>
          </a:p>
        </p:txBody>
      </p:sp>
      <p:sp>
        <p:nvSpPr>
          <p:cNvPr name="AutoShape 7" id="7"/>
          <p:cNvSpPr txBox="true"/>
          <p:nvPr/>
        </p:nvSpPr>
        <p:spPr>
          <a:xfrm rot="0" flipH="false" flipV="false">
            <a:off x="1016000" y="5969000"/>
            <a:ext cx="762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28282"/>
                </a:solidFill>
                <a:latin typeface="IBM Plex Sans"/>
                <a:ea typeface="IBM Plex Sans"/>
                <a:cs typeface="IBM Plex Sans"/>
                <a:sym typeface="IBM Plex Sans"/>
              </a:rPr>
              <a:t>Project Report ·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762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2D6A4F"/>
                </a:solidFill>
                <a:latin typeface="IBM Plex Sans"/>
                <a:ea typeface="IBM Plex Sans"/>
                <a:cs typeface="IBM Plex Sans"/>
                <a:sym typeface="IBM Plex Sans"/>
              </a:rPr>
              <a:t>OUTLINE</a:t>
            </a:r>
            <a:endParaRPr lang="en-US" sz="1100"/>
          </a:p>
        </p:txBody>
      </p:sp>
      <p:sp>
        <p:nvSpPr>
          <p:cNvPr name="AutoShape 3" id="3"/>
          <p:cNvSpPr txBox="true"/>
          <p:nvPr/>
        </p:nvSpPr>
        <p:spPr>
          <a:xfrm rot="0" flipH="false" flipV="false">
            <a:off x="1016000" y="1143000"/>
            <a:ext cx="762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A1A2E"/>
                </a:solidFill>
                <a:latin typeface="IBM Plex Sans"/>
                <a:ea typeface="IBM Plex Sans"/>
                <a:cs typeface="IBM Plex Sans"/>
                <a:sym typeface="IBM Plex Sans"/>
              </a:rPr>
              <a:t>Agenda</a:t>
            </a:r>
            <a:endParaRPr lang="en-US" sz="1100"/>
          </a:p>
        </p:txBody>
      </p:sp>
      <p:cxnSp>
        <p:nvCxnSpPr>
          <p:cNvPr name="Connector 4" id="4"/>
          <p:cNvCxnSpPr/>
          <p:nvPr/>
        </p:nvCxnSpPr>
        <p:spPr>
          <a:xfrm rot="-4297" flipH="false" flipV="false">
            <a:off x="1016004" y="19621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5" id="5"/>
          <p:cNvSpPr txBox="true"/>
          <p:nvPr/>
        </p:nvSpPr>
        <p:spPr>
          <a:xfrm rot="0" flipH="false" flipV="false">
            <a:off x="1016000" y="23495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6A4F"/>
                </a:solidFill>
                <a:latin typeface="IBM Plex Sans"/>
                <a:ea typeface="IBM Plex Sans"/>
                <a:cs typeface="IBM Plex Sans"/>
                <a:sym typeface="IBM Plex Sans"/>
              </a:rPr>
              <a:t>01</a:t>
            </a:r>
            <a:endParaRPr lang="en-US" sz="1100"/>
          </a:p>
        </p:txBody>
      </p:sp>
      <p:sp>
        <p:nvSpPr>
          <p:cNvPr name="AutoShape 6" id="6"/>
          <p:cNvSpPr txBox="true"/>
          <p:nvPr/>
        </p:nvSpPr>
        <p:spPr>
          <a:xfrm rot="0" flipH="false" flipV="false">
            <a:off x="1651000" y="2349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Project Background</a:t>
            </a:r>
            <a:endParaRPr lang="en-US" sz="1100"/>
          </a:p>
        </p:txBody>
      </p:sp>
      <p:sp>
        <p:nvSpPr>
          <p:cNvPr name="AutoShape 7" id="7"/>
          <p:cNvSpPr txBox="true"/>
          <p:nvPr/>
        </p:nvSpPr>
        <p:spPr>
          <a:xfrm rot="0" flipH="false" flipV="false">
            <a:off x="1651000" y="2692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28282"/>
                </a:solidFill>
                <a:latin typeface="IBM Plex Sans"/>
                <a:ea typeface="IBM Plex Sans"/>
                <a:cs typeface="IBM Plex Sans"/>
                <a:sym typeface="IBM Plex Sans"/>
              </a:rPr>
              <a:t>Urban pedestrian flow anomaly detection problem</a:t>
            </a:r>
            <a:endParaRPr lang="en-US" sz="1100"/>
          </a:p>
        </p:txBody>
      </p:sp>
      <p:sp>
        <p:nvSpPr>
          <p:cNvPr name="AutoShape 8" id="8"/>
          <p:cNvSpPr txBox="true"/>
          <p:nvPr/>
        </p:nvSpPr>
        <p:spPr>
          <a:xfrm rot="0" flipH="false" flipV="false">
            <a:off x="1016000" y="32385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6A4F"/>
                </a:solidFill>
                <a:latin typeface="IBM Plex Sans"/>
                <a:ea typeface="IBM Plex Sans"/>
                <a:cs typeface="IBM Plex Sans"/>
                <a:sym typeface="IBM Plex Sans"/>
              </a:rPr>
              <a:t>02</a:t>
            </a:r>
            <a:endParaRPr lang="en-US" sz="1100"/>
          </a:p>
        </p:txBody>
      </p:sp>
      <p:sp>
        <p:nvSpPr>
          <p:cNvPr name="AutoShape 9" id="9"/>
          <p:cNvSpPr txBox="true"/>
          <p:nvPr/>
        </p:nvSpPr>
        <p:spPr>
          <a:xfrm rot="0" flipH="false" flipV="false">
            <a:off x="1651000" y="3238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Model Family Comparison</a:t>
            </a:r>
            <a:endParaRPr lang="en-US" sz="1100"/>
          </a:p>
        </p:txBody>
      </p:sp>
      <p:sp>
        <p:nvSpPr>
          <p:cNvPr name="AutoShape 10" id="10"/>
          <p:cNvSpPr txBox="true"/>
          <p:nvPr/>
        </p:nvSpPr>
        <p:spPr>
          <a:xfrm rot="0" flipH="false" flipV="false">
            <a:off x="1651000" y="3581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28282"/>
                </a:solidFill>
                <a:latin typeface="IBM Plex Sans"/>
                <a:ea typeface="IBM Plex Sans"/>
                <a:cs typeface="IBM Plex Sans"/>
                <a:sym typeface="IBM Plex Sans"/>
              </a:rPr>
              <a:t>Statistical vs. Neural vs. Deep learning approaches</a:t>
            </a:r>
            <a:endParaRPr lang="en-US" sz="1100"/>
          </a:p>
        </p:txBody>
      </p:sp>
      <p:sp>
        <p:nvSpPr>
          <p:cNvPr name="AutoShape 11" id="11"/>
          <p:cNvSpPr txBox="true"/>
          <p:nvPr/>
        </p:nvSpPr>
        <p:spPr>
          <a:xfrm rot="0" flipH="false" flipV="false">
            <a:off x="1016000" y="41275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6A4F"/>
                </a:solidFill>
                <a:latin typeface="IBM Plex Sans"/>
                <a:ea typeface="IBM Plex Sans"/>
                <a:cs typeface="IBM Plex Sans"/>
                <a:sym typeface="IBM Plex Sans"/>
              </a:rPr>
              <a:t>03</a:t>
            </a:r>
            <a:endParaRPr lang="en-US" sz="1100"/>
          </a:p>
        </p:txBody>
      </p:sp>
      <p:sp>
        <p:nvSpPr>
          <p:cNvPr name="AutoShape 12" id="12"/>
          <p:cNvSpPr txBox="true"/>
          <p:nvPr/>
        </p:nvSpPr>
        <p:spPr>
          <a:xfrm rot="0" flipH="false" flipV="false">
            <a:off x="1651000" y="4127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Lightweight STF Architecture</a:t>
            </a:r>
            <a:endParaRPr lang="en-US" sz="1100"/>
          </a:p>
        </p:txBody>
      </p:sp>
      <p:sp>
        <p:nvSpPr>
          <p:cNvPr name="AutoShape 13" id="13"/>
          <p:cNvSpPr txBox="true"/>
          <p:nvPr/>
        </p:nvSpPr>
        <p:spPr>
          <a:xfrm rot="0" flipH="false" flipV="false">
            <a:off x="1651000" y="4470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28282"/>
                </a:solidFill>
                <a:latin typeface="IBM Plex Sans"/>
                <a:ea typeface="IBM Plex Sans"/>
                <a:cs typeface="IBM Plex Sans"/>
                <a:sym typeface="IBM Plex Sans"/>
              </a:rPr>
              <a:t>Cross-attention fused spatial-temporal token design</a:t>
            </a:r>
            <a:endParaRPr lang="en-US" sz="1100"/>
          </a:p>
        </p:txBody>
      </p:sp>
      <p:sp>
        <p:nvSpPr>
          <p:cNvPr name="AutoShape 14" id="14"/>
          <p:cNvSpPr txBox="true"/>
          <p:nvPr/>
        </p:nvSpPr>
        <p:spPr>
          <a:xfrm rot="0" flipH="false" flipV="false">
            <a:off x="6350000" y="23495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6A4F"/>
                </a:solidFill>
                <a:latin typeface="IBM Plex Sans"/>
                <a:ea typeface="IBM Plex Sans"/>
                <a:cs typeface="IBM Plex Sans"/>
                <a:sym typeface="IBM Plex Sans"/>
              </a:rPr>
              <a:t>04</a:t>
            </a:r>
            <a:endParaRPr lang="en-US" sz="1100"/>
          </a:p>
        </p:txBody>
      </p:sp>
      <p:sp>
        <p:nvSpPr>
          <p:cNvPr name="AutoShape 15" id="15"/>
          <p:cNvSpPr txBox="true"/>
          <p:nvPr/>
        </p:nvSpPr>
        <p:spPr>
          <a:xfrm rot="0" flipH="false" flipV="false">
            <a:off x="6985000" y="2349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Anomaly Detection Module</a:t>
            </a:r>
            <a:endParaRPr lang="en-US" sz="1100"/>
          </a:p>
        </p:txBody>
      </p:sp>
      <p:sp>
        <p:nvSpPr>
          <p:cNvPr name="AutoShape 16" id="16"/>
          <p:cNvSpPr txBox="true"/>
          <p:nvPr/>
        </p:nvSpPr>
        <p:spPr>
          <a:xfrm rot="0" flipH="false" flipV="false">
            <a:off x="6985000" y="2692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28282"/>
                </a:solidFill>
                <a:latin typeface="IBM Plex Sans"/>
                <a:ea typeface="IBM Plex Sans"/>
                <a:cs typeface="IBM Plex Sans"/>
                <a:sym typeface="IBM Plex Sans"/>
              </a:rPr>
              <a:t>Residual + reconstruction fusion at 9:1</a:t>
            </a:r>
            <a:endParaRPr lang="en-US" sz="1100"/>
          </a:p>
        </p:txBody>
      </p:sp>
      <p:sp>
        <p:nvSpPr>
          <p:cNvPr name="AutoShape 17" id="17"/>
          <p:cNvSpPr txBox="true"/>
          <p:nvPr/>
        </p:nvSpPr>
        <p:spPr>
          <a:xfrm rot="0" flipH="false" flipV="false">
            <a:off x="6350000" y="32385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6A4F"/>
                </a:solidFill>
                <a:latin typeface="IBM Plex Sans"/>
                <a:ea typeface="IBM Plex Sans"/>
                <a:cs typeface="IBM Plex Sans"/>
                <a:sym typeface="IBM Plex Sans"/>
              </a:rPr>
              <a:t>05</a:t>
            </a:r>
            <a:endParaRPr lang="en-US" sz="1100"/>
          </a:p>
        </p:txBody>
      </p:sp>
      <p:sp>
        <p:nvSpPr>
          <p:cNvPr name="AutoShape 18" id="18"/>
          <p:cNvSpPr txBox="true"/>
          <p:nvPr/>
        </p:nvSpPr>
        <p:spPr>
          <a:xfrm rot="0" flipH="false" flipV="false">
            <a:off x="6985000" y="3238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Deployment &amp; Toolchain</a:t>
            </a:r>
            <a:endParaRPr lang="en-US" sz="1100"/>
          </a:p>
        </p:txBody>
      </p:sp>
      <p:sp>
        <p:nvSpPr>
          <p:cNvPr name="AutoShape 19" id="19"/>
          <p:cNvSpPr txBox="true"/>
          <p:nvPr/>
        </p:nvSpPr>
        <p:spPr>
          <a:xfrm rot="0" flipH="false" flipV="false">
            <a:off x="6985000" y="3581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28282"/>
                </a:solidFill>
                <a:latin typeface="IBM Plex Sans"/>
                <a:ea typeface="IBM Plex Sans"/>
                <a:cs typeface="IBM Plex Sans"/>
                <a:sym typeface="IBM Plex Sans"/>
              </a:rPr>
              <a:t>FastAPI backend, Streamlit frontend, Optuna, SHAP</a:t>
            </a:r>
            <a:endParaRPr lang="en-US" sz="1100"/>
          </a:p>
        </p:txBody>
      </p:sp>
      <p:sp>
        <p:nvSpPr>
          <p:cNvPr name="AutoShape 20" id="20"/>
          <p:cNvSpPr txBox="true"/>
          <p:nvPr/>
        </p:nvSpPr>
        <p:spPr>
          <a:xfrm rot="0" flipH="false" flipV="false">
            <a:off x="6350000" y="41275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6A4F"/>
                </a:solidFill>
                <a:latin typeface="IBM Plex Sans"/>
                <a:ea typeface="IBM Plex Sans"/>
                <a:cs typeface="IBM Plex Sans"/>
                <a:sym typeface="IBM Plex Sans"/>
              </a:rPr>
              <a:t>06</a:t>
            </a:r>
            <a:endParaRPr lang="en-US" sz="1100"/>
          </a:p>
        </p:txBody>
      </p:sp>
      <p:sp>
        <p:nvSpPr>
          <p:cNvPr name="AutoShape 21" id="21"/>
          <p:cNvSpPr txBox="true"/>
          <p:nvPr/>
        </p:nvSpPr>
        <p:spPr>
          <a:xfrm rot="0" flipH="false" flipV="false">
            <a:off x="6985000" y="4127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Summary &amp; Next Steps</a:t>
            </a:r>
            <a:endParaRPr lang="en-US" sz="1100"/>
          </a:p>
        </p:txBody>
      </p:sp>
      <p:sp>
        <p:nvSpPr>
          <p:cNvPr name="AutoShape 22" id="22"/>
          <p:cNvSpPr txBox="true"/>
          <p:nvPr/>
        </p:nvSpPr>
        <p:spPr>
          <a:xfrm rot="0" flipH="false" flipV="false">
            <a:off x="6985000" y="4470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28282"/>
                </a:solidFill>
                <a:latin typeface="IBM Plex Sans"/>
                <a:ea typeface="IBM Plex Sans"/>
                <a:cs typeface="IBM Plex Sans"/>
                <a:sym typeface="IBM Plex Sans"/>
              </a:rPr>
              <a:t>Key contributions and future directions</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2D6A4F"/>
                </a:solidFill>
                <a:latin typeface="IBM Plex Sans"/>
                <a:ea typeface="IBM Plex Sans"/>
                <a:cs typeface="IBM Plex Sans"/>
                <a:sym typeface="IBM Plex Sans"/>
              </a:rPr>
              <a:t>01 · PROJECT BACKGROUND</a:t>
            </a:r>
            <a:endParaRPr lang="en-US" sz="1100"/>
          </a:p>
        </p:txBody>
      </p:sp>
      <p:sp>
        <p:nvSpPr>
          <p:cNvPr name="AutoShape 3" id="3"/>
          <p:cNvSpPr txBox="true"/>
          <p:nvPr/>
        </p:nvSpPr>
        <p:spPr>
          <a:xfrm rot="0" flipH="false" flipV="false">
            <a:off x="1016000" y="10160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A1A2E"/>
                </a:solidFill>
                <a:latin typeface="IBM Plex Sans"/>
                <a:ea typeface="IBM Plex Sans"/>
                <a:cs typeface="IBM Plex Sans"/>
                <a:sym typeface="IBM Plex Sans"/>
              </a:rPr>
              <a:t>Detecting anomalous pedestrian flow in urban networks</a:t>
            </a:r>
            <a:endParaRPr lang="en-US" sz="1100"/>
          </a:p>
        </p:txBody>
      </p:sp>
      <p:cxnSp>
        <p:nvCxnSpPr>
          <p:cNvPr name="Connector 4" id="4"/>
          <p:cNvCxnSpPr/>
          <p:nvPr/>
        </p:nvCxnSpPr>
        <p:spPr>
          <a:xfrm rot="-4297" flipH="false" flipV="false">
            <a:off x="1016004" y="1771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5" id="5"/>
          <p:cNvSpPr txBox="true"/>
          <p:nvPr/>
        </p:nvSpPr>
        <p:spPr>
          <a:xfrm rot="0" flipH="false" flipV="false">
            <a:off x="1016000" y="20955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6A4F"/>
                </a:solidFill>
                <a:latin typeface="IBM Plex Sans"/>
                <a:ea typeface="IBM Plex Sans"/>
                <a:cs typeface="IBM Plex Sans"/>
                <a:sym typeface="IBM Plex Sans"/>
              </a:rPr>
              <a:t>Problem</a:t>
            </a:r>
            <a:endParaRPr lang="en-US" sz="1100"/>
          </a:p>
        </p:txBody>
      </p:sp>
      <p:sp>
        <p:nvSpPr>
          <p:cNvPr name="AutoShape 6" id="6"/>
          <p:cNvSpPr txBox="true"/>
          <p:nvPr/>
        </p:nvSpPr>
        <p:spPr>
          <a:xfrm rot="0" flipH="false" flipV="false">
            <a:off x="1016000" y="2514600"/>
            <a:ext cx="4826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64646"/>
                </a:solidFill>
                <a:latin typeface="IBM Plex Sans"/>
                <a:ea typeface="IBM Plex Sans"/>
                <a:cs typeface="IBM Plex Sans"/>
                <a:sym typeface="IBM Plex Sans"/>
              </a:rPr>
              <a:t>Urban pedestrian flow exhibits strong spatial-temporal</a:t>
            </a:r>
            <a:endParaRPr lang="en-US" sz="1100"/>
          </a:p>
          <a:p>
            <a:pPr algn="l" marL="0" indent="0">
              <a:lnSpc>
                <a:spcPct val="133333"/>
              </a:lnSpc>
            </a:pPr>
            <a:r>
              <a:rPr lang="en-US" b="false" i="false" strike="noStrike" u="none" sz="1400">
                <a:solidFill>
                  <a:srgbClr val="464646"/>
                </a:solidFill>
                <a:latin typeface="IBM Plex Sans"/>
                <a:ea typeface="IBM Plex Sans"/>
                <a:cs typeface="IBM Plex Sans"/>
                <a:sym typeface="IBM Plex Sans"/>
              </a:rPr>
              <a:t>dependencies. Sudden deviations — rallies, accidents,</a:t>
            </a:r>
          </a:p>
          <a:p>
            <a:pPr algn="l" marL="0" indent="0">
              <a:lnSpc>
                <a:spcPct val="133333"/>
              </a:lnSpc>
            </a:pPr>
            <a:r>
              <a:rPr lang="en-US" b="false" i="false" strike="noStrike" u="none" sz="1400">
                <a:solidFill>
                  <a:srgbClr val="464646"/>
                </a:solidFill>
                <a:latin typeface="IBM Plex Sans"/>
                <a:ea typeface="IBM Plex Sans"/>
                <a:cs typeface="IBM Plex Sans"/>
                <a:sym typeface="IBM Plex Sans"/>
              </a:rPr>
              <a:t>concerts — are critical for city management but rare</a:t>
            </a:r>
          </a:p>
          <a:p>
            <a:pPr algn="l" marL="0" indent="0">
              <a:lnSpc>
                <a:spcPct val="133333"/>
              </a:lnSpc>
            </a:pPr>
            <a:r>
              <a:rPr lang="en-US" b="false" i="false" strike="noStrike" u="none" sz="1400">
                <a:solidFill>
                  <a:srgbClr val="464646"/>
                </a:solidFill>
                <a:latin typeface="IBM Plex Sans"/>
                <a:ea typeface="IBM Plex Sans"/>
                <a:cs typeface="IBM Plex Sans"/>
                <a:sym typeface="IBM Plex Sans"/>
              </a:rPr>
              <a:t>and hard to forecast with standard methods.</a:t>
            </a:r>
          </a:p>
        </p:txBody>
      </p:sp>
      <p:sp>
        <p:nvSpPr>
          <p:cNvPr name="AutoShape 7" id="7"/>
          <p:cNvSpPr txBox="true"/>
          <p:nvPr/>
        </p:nvSpPr>
        <p:spPr>
          <a:xfrm rot="0" flipH="false" flipV="false">
            <a:off x="6350000" y="20955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6A4F"/>
                </a:solidFill>
                <a:latin typeface="IBM Plex Sans"/>
                <a:ea typeface="IBM Plex Sans"/>
                <a:cs typeface="IBM Plex Sans"/>
                <a:sym typeface="IBM Plex Sans"/>
              </a:rPr>
              <a:t>Dataset &amp; Pipeline</a:t>
            </a:r>
            <a:endParaRPr lang="en-US" sz="1100"/>
          </a:p>
        </p:txBody>
      </p:sp>
      <p:sp>
        <p:nvSpPr>
          <p:cNvPr name="AutoShape 8" id="8"/>
          <p:cNvSpPr txBox="true"/>
          <p:nvPr/>
        </p:nvSpPr>
        <p:spPr>
          <a:xfrm rot="0" flipH="false" flipV="false">
            <a:off x="6350000" y="2514600"/>
            <a:ext cx="4826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64646"/>
                </a:solidFill>
                <a:latin typeface="IBM Plex Sans"/>
                <a:ea typeface="IBM Plex Sans"/>
                <a:cs typeface="IBM Plex Sans"/>
                <a:sym typeface="IBM Plex Sans"/>
              </a:rPr>
              <a:t>Built on the BJ-Taxi (TaxiBJ P4) dataset with 1024</a:t>
            </a:r>
            <a:endParaRPr lang="en-US" sz="1100"/>
          </a:p>
          <a:p>
            <a:pPr algn="l" marL="0" indent="0">
              <a:lnSpc>
                <a:spcPct val="133333"/>
              </a:lnSpc>
            </a:pPr>
            <a:r>
              <a:rPr lang="en-US" b="false" i="false" strike="noStrike" u="none" sz="1400">
                <a:solidFill>
                  <a:srgbClr val="464646"/>
                </a:solidFill>
                <a:latin typeface="IBM Plex Sans"/>
                <a:ea typeface="IBM Plex Sans"/>
                <a:cs typeface="IBM Plex Sans"/>
                <a:sym typeface="IBM Plex Sans"/>
              </a:rPr>
              <a:t>grid nodes. The pipeline runs data cleaning and</a:t>
            </a:r>
          </a:p>
          <a:p>
            <a:pPr algn="l" marL="0" indent="0">
              <a:lnSpc>
                <a:spcPct val="133333"/>
              </a:lnSpc>
            </a:pPr>
            <a:r>
              <a:rPr lang="en-US" b="false" i="false" strike="noStrike" u="none" sz="1400">
                <a:solidFill>
                  <a:srgbClr val="464646"/>
                </a:solidFill>
                <a:latin typeface="IBM Plex Sans"/>
                <a:ea typeface="IBM Plex Sans"/>
                <a:cs typeface="IBM Plex Sans"/>
                <a:sym typeface="IBM Plex Sans"/>
              </a:rPr>
              <a:t>feature engineering first, then feeds the cleaned</a:t>
            </a:r>
          </a:p>
          <a:p>
            <a:pPr algn="l" marL="0" indent="0">
              <a:lnSpc>
                <a:spcPct val="133333"/>
              </a:lnSpc>
            </a:pPr>
            <a:r>
              <a:rPr lang="en-US" b="false" i="false" strike="noStrike" u="none" sz="1400">
                <a:solidFill>
                  <a:srgbClr val="464646"/>
                </a:solidFill>
                <a:latin typeface="IBM Plex Sans"/>
                <a:ea typeface="IBM Plex Sans"/>
                <a:cs typeface="IBM Plex Sans"/>
                <a:sym typeface="IBM Plex Sans"/>
              </a:rPr>
              <a:t>tensor into a forecasting backbone for downstream</a:t>
            </a:r>
          </a:p>
          <a:p>
            <a:pPr algn="l" marL="0" indent="0">
              <a:lnSpc>
                <a:spcPct val="133333"/>
              </a:lnSpc>
            </a:pPr>
            <a:r>
              <a:rPr lang="en-US" b="false" i="false" strike="noStrike" u="none" sz="1400">
                <a:solidFill>
                  <a:srgbClr val="464646"/>
                </a:solidFill>
                <a:latin typeface="IBM Plex Sans"/>
                <a:ea typeface="IBM Plex Sans"/>
                <a:cs typeface="IBM Plex Sans"/>
                <a:sym typeface="IBM Plex Sans"/>
              </a:rPr>
              <a:t>anomaly scoring.</a:t>
            </a:r>
          </a:p>
        </p:txBody>
      </p:sp>
      <p:cxnSp>
        <p:nvCxnSpPr>
          <p:cNvPr name="Connector 9" id="9"/>
          <p:cNvCxnSpPr/>
          <p:nvPr/>
        </p:nvCxnSpPr>
        <p:spPr>
          <a:xfrm rot="-4297" flipH="false" flipV="false">
            <a:off x="1016004" y="4565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10" id="10"/>
          <p:cNvSpPr txBox="true"/>
          <p:nvPr/>
        </p:nvSpPr>
        <p:spPr>
          <a:xfrm rot="0" flipH="false" flipV="false">
            <a:off x="1016000" y="4800600"/>
            <a:ext cx="10160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6A4F"/>
                </a:solidFill>
                <a:latin typeface="IBM Plex Sans"/>
                <a:ea typeface="IBM Plex Sans"/>
                <a:cs typeface="IBM Plex Sans"/>
                <a:sym typeface="IBM Plex Sans"/>
              </a:rPr>
              <a:t>Key challenge:</a:t>
            </a:r>
            <a:r>
              <a:rPr lang="en-US" b="false" i="false" strike="noStrike" u="none" sz="1400">
                <a:solidFill>
                  <a:srgbClr val="1A1A2E"/>
                </a:solidFill>
                <a:latin typeface="IBM Plex Sans"/>
                <a:ea typeface="IBM Plex Sans"/>
                <a:cs typeface="IBM Plex Sans"/>
                <a:sym typeface="IBM Plex Sans"/>
              </a:rPr>
              <a:t> the BJ-Taxi dataset has a limited sample size. Large pre-trained spatiotemporal transformers easily overfit, while simpler models fail to capture long-range spatial-temporal patterns.</a:t>
            </a:r>
            <a:endParaRPr lang="en-US" sz="1100"/>
          </a:p>
        </p:txBody>
      </p:sp>
      <p:sp>
        <p:nvSpPr>
          <p:cNvPr name="AutoShape 11" id="11"/>
          <p:cNvSpPr txBox="true"/>
          <p:nvPr/>
        </p:nvSpPr>
        <p:spPr>
          <a:xfrm rot="0" flipH="false" flipV="false">
            <a:off x="1016000" y="6223000"/>
            <a:ext cx="1016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A0A0A0"/>
                </a:solidFill>
                <a:latin typeface="IBM Plex Sans"/>
                <a:ea typeface="IBM Plex Sans"/>
                <a:cs typeface="IBM Plex Sans"/>
                <a:sym typeface="IBM Plex Sans"/>
              </a:rPr>
              <a:t>Source: project notes · BJ-Taxi grid = 32 × 32 = 1024 nodes</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2D6A4F"/>
                </a:solidFill>
                <a:latin typeface="IBM Plex Sans"/>
                <a:ea typeface="IBM Plex Sans"/>
                <a:cs typeface="IBM Plex Sans"/>
                <a:sym typeface="IBM Plex Sans"/>
              </a:rPr>
              <a:t>02 · MODEL FAMILY COMPARISON</a:t>
            </a:r>
            <a:endParaRPr lang="en-US" sz="1100"/>
          </a:p>
        </p:txBody>
      </p:sp>
      <p:sp>
        <p:nvSpPr>
          <p:cNvPr name="AutoShape 3" id="3"/>
          <p:cNvSpPr txBox="true"/>
          <p:nvPr/>
        </p:nvSpPr>
        <p:spPr>
          <a:xfrm rot="0" flipH="false" flipV="false">
            <a:off x="1016000" y="10160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A1A2E"/>
                </a:solidFill>
                <a:latin typeface="IBM Plex Sans"/>
                <a:ea typeface="IBM Plex Sans"/>
                <a:cs typeface="IBM Plex Sans"/>
                <a:sym typeface="IBM Plex Sans"/>
              </a:rPr>
              <a:t>Three generations of spatiotemporal models</a:t>
            </a:r>
            <a:endParaRPr lang="en-US" sz="1100"/>
          </a:p>
        </p:txBody>
      </p:sp>
      <p:cxnSp>
        <p:nvCxnSpPr>
          <p:cNvPr name="Connector 4" id="4"/>
          <p:cNvCxnSpPr/>
          <p:nvPr/>
        </p:nvCxnSpPr>
        <p:spPr>
          <a:xfrm rot="-4297" flipH="false" flipV="false">
            <a:off x="1016004" y="1771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graphicFrame>
        <p:nvGraphicFramePr>
          <p:cNvPr name="Table 5" id="5"/>
          <p:cNvGraphicFramePr>
            <a:graphicFrameLocks noGrp="true"/>
          </p:cNvGraphicFramePr>
          <p:nvPr/>
        </p:nvGraphicFramePr>
        <p:xfrm>
          <a:off x="1016000" y="2095500"/>
          <a:ext cx="10160000" cy="3556000"/>
        </p:xfrm>
        <a:graphic>
          <a:graphicData uri="http://schemas.openxmlformats.org/drawingml/2006/table">
            <a:tbl>
              <a:tblPr>
                <a:effectLst/>
              </a:tblPr>
              <a:tblGrid>
                <a:gridCol w="2032000"/>
                <a:gridCol w="4064000"/>
                <a:gridCol w="4064000"/>
              </a:tblGrid>
              <a:tr h="533400">
                <a:tc>
                  <a:txBody>
                    <a:bodyPr anchor="t" rtlCol="false"/>
                    <a:lstStyle/>
                    <a:p>
                      <a:pPr algn="ctr" marL="0" indent="0">
                        <a:lnSpc>
                          <a:spcPct val="100000"/>
                        </a:lnSpc>
                        <a:defRPr/>
                      </a:pPr>
                      <a:r>
                        <a:rPr lang="en-US" b="true" i="false" strike="noStrike" u="none" sz="1300">
                          <a:solidFill>
                            <a:srgbClr val="FFFFFF"/>
                          </a:solidFill>
                          <a:latin typeface="IBM Plex Sans"/>
                          <a:ea typeface="IBM Plex Sans"/>
                          <a:cs typeface="IBM Plex Sans"/>
                          <a:sym typeface="IBM Plex Sans"/>
                        </a:rPr>
                        <a:t>Family</a:t>
                      </a:r>
                      <a:endParaRPr lang="en-US" sz="1100"/>
                    </a:p>
                  </a:txBody>
                  <a:tcPr anchor="ctr" anchorCtr="false" marL="101600" marR="101600" marT="101600" marB="101600">
                    <a:lnL>
                      <a:noFill/>
                    </a:lnL>
                    <a:lnR>
                      <a:noFill/>
                    </a:lnR>
                    <a:lnT>
                      <a:noFill/>
                    </a:lnT>
                    <a:lnB>
                      <a:noFill/>
                    </a:lnB>
                    <a:solidFill>
                      <a:srgbClr val="1A1A2E">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IBM Plex Sans"/>
                          <a:ea typeface="IBM Plex Sans"/>
                          <a:cs typeface="IBM Plex Sans"/>
                          <a:sym typeface="IBM Plex Sans"/>
                        </a:rPr>
                        <a:t>Strengths</a:t>
                      </a:r>
                      <a:endParaRPr lang="en-US" sz="1100"/>
                    </a:p>
                  </a:txBody>
                  <a:tcPr anchor="ctr" anchorCtr="false" marL="101600" marR="101600" marT="101600" marB="101600">
                    <a:lnL>
                      <a:noFill/>
                    </a:lnL>
                    <a:lnR>
                      <a:noFill/>
                    </a:lnR>
                    <a:lnT>
                      <a:noFill/>
                    </a:lnT>
                    <a:lnB>
                      <a:noFill/>
                    </a:lnB>
                    <a:solidFill>
                      <a:srgbClr val="1A1A2E">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IBM Plex Sans"/>
                          <a:ea typeface="IBM Plex Sans"/>
                          <a:cs typeface="IBM Plex Sans"/>
                          <a:sym typeface="IBM Plex Sans"/>
                        </a:rPr>
                        <a:t>Limitations</a:t>
                      </a:r>
                      <a:endParaRPr lang="en-US" sz="1100"/>
                    </a:p>
                  </a:txBody>
                  <a:tcPr anchor="ctr" anchorCtr="false" marL="101600" marR="101600" marT="101600" marB="101600">
                    <a:lnL>
                      <a:noFill/>
                    </a:lnL>
                    <a:lnR>
                      <a:noFill/>
                    </a:lnR>
                    <a:lnT>
                      <a:noFill/>
                    </a:lnT>
                    <a:lnB>
                      <a:noFill/>
                    </a:lnB>
                    <a:solidFill>
                      <a:srgbClr val="1A1A2E">
                        <a:alpha val="100000"/>
                      </a:srgbClr>
                    </a:solidFill>
                  </a:tcPr>
                </a:tc>
              </a:tr>
              <a:tr h="1003300">
                <a:tc>
                  <a:txBody>
                    <a:bodyPr anchor="t" rtlCol="false"/>
                    <a:lstStyle/>
                    <a:p>
                      <a:pPr algn="ctr" marL="0" indent="0">
                        <a:lnSpc>
                          <a:spcPct val="100000"/>
                        </a:lnSpc>
                        <a:defRPr/>
                      </a:pPr>
                      <a:r>
                        <a:rPr lang="en-US" b="true" i="false" strike="noStrike" u="none" sz="1300">
                          <a:solidFill>
                            <a:srgbClr val="1A1A2E"/>
                          </a:solidFill>
                          <a:latin typeface="IBM Plex Sans"/>
                          <a:ea typeface="IBM Plex Sans"/>
                          <a:cs typeface="IBM Plex Sans"/>
                          <a:sym typeface="IBM Plex Sans"/>
                        </a:rPr>
                        <a:t>Statistical</a:t>
                      </a:r>
                      <a:endParaRPr lang="en-US" sz="1100"/>
                    </a:p>
                    <a:p>
                      <a:pPr algn="ctr" marL="0" indent="0">
                        <a:lnSpc>
                          <a:spcPct val="100000"/>
                        </a:lnSpc>
                      </a:pPr>
                      <a:r>
                        <a:rPr lang="en-US" b="true" i="false" strike="noStrike" u="none" sz="1300">
                          <a:solidFill>
                            <a:srgbClr val="1A1A2E"/>
                          </a:solidFill>
                          <a:latin typeface="IBM Plex Sans"/>
                          <a:ea typeface="IBM Plex Sans"/>
                          <a:cs typeface="IBM Plex Sans"/>
                          <a:sym typeface="IBM Plex Sans"/>
                        </a:rPr>
                        <a:t>(ARIMA, SVR)</a:t>
                      </a:r>
                    </a:p>
                  </a:txBody>
                  <a:tcPr anchor="ctr" anchorCtr="false" marL="101600" marR="101600" marT="101600" marB="101600">
                    <a:lnL>
                      <a:noFill/>
                    </a:lnL>
                    <a:lnR>
                      <a:noFill/>
                    </a:lnR>
                    <a:lnT>
                      <a:noFill/>
                    </a:lnT>
                    <a:lnB>
                      <a:noFill/>
                    </a:lnB>
                    <a:solidFill>
                      <a:srgbClr val="EBE9E4">
                        <a:alpha val="100000"/>
                      </a:srgbClr>
                    </a:solidFill>
                  </a:tcPr>
                </a:tc>
                <a:tc>
                  <a:txBody>
                    <a:bodyPr anchor="t" rtlCol="false"/>
                    <a:lstStyle/>
                    <a:p>
                      <a:pPr algn="l" marL="0" indent="0">
                        <a:lnSpc>
                          <a:spcPct val="116666"/>
                        </a:lnSpc>
                        <a:defRPr/>
                      </a:pPr>
                      <a:r>
                        <a:rPr lang="en-US" b="false" i="false" strike="noStrike" u="none" sz="1200">
                          <a:solidFill>
                            <a:srgbClr val="464646"/>
                          </a:solidFill>
                          <a:latin typeface="IBM Plex Sans"/>
                          <a:ea typeface="IBM Plex Sans"/>
                          <a:cs typeface="IBM Plex Sans"/>
                          <a:sym typeface="IBM Plex Sans"/>
                        </a:rPr>
                        <a:t>Simple, interpretable, fast to train on small data</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16666"/>
                        </a:lnSpc>
                        <a:defRPr/>
                      </a:pPr>
                      <a:r>
                        <a:rPr lang="en-US" b="false" i="false" strike="noStrike" u="none" sz="1200">
                          <a:solidFill>
                            <a:srgbClr val="464646"/>
                          </a:solidFill>
                          <a:latin typeface="IBM Plex Sans"/>
                          <a:ea typeface="IBM Plex Sans"/>
                          <a:cs typeface="IBM Plex Sans"/>
                          <a:sym typeface="IBM Plex Sans"/>
                        </a:rPr>
                        <a:t>Cannot predict emergent events; weak spatial interaction modeling</a:t>
                      </a:r>
                      <a:endParaRPr lang="en-US" sz="1100"/>
                    </a:p>
                  </a:txBody>
                  <a:tcPr anchor="ctr" anchorCtr="false" marL="101600" marR="101600" marT="101600" marB="101600">
                    <a:lnL>
                      <a:noFill/>
                    </a:lnL>
                    <a:lnR>
                      <a:noFill/>
                    </a:lnR>
                    <a:lnT>
                      <a:noFill/>
                    </a:lnT>
                    <a:lnB>
                      <a:noFill/>
                    </a:lnB>
                    <a:noFill/>
                  </a:tcPr>
                </a:tc>
              </a:tr>
              <a:tr h="1003300">
                <a:tc>
                  <a:txBody>
                    <a:bodyPr anchor="t" rtlCol="false"/>
                    <a:lstStyle/>
                    <a:p>
                      <a:pPr algn="ctr" marL="0" indent="0">
                        <a:lnSpc>
                          <a:spcPct val="100000"/>
                        </a:lnSpc>
                        <a:defRPr/>
                      </a:pPr>
                      <a:r>
                        <a:rPr lang="en-US" b="true" i="false" strike="noStrike" u="none" sz="1300">
                          <a:solidFill>
                            <a:srgbClr val="1A1A2E"/>
                          </a:solidFill>
                          <a:latin typeface="IBM Plex Sans"/>
                          <a:ea typeface="IBM Plex Sans"/>
                          <a:cs typeface="IBM Plex Sans"/>
                          <a:sym typeface="IBM Plex Sans"/>
                        </a:rPr>
                        <a:t>Neural Network</a:t>
                      </a:r>
                      <a:endParaRPr lang="en-US" sz="1100"/>
                    </a:p>
                    <a:p>
                      <a:pPr algn="ctr" marL="0" indent="0">
                        <a:lnSpc>
                          <a:spcPct val="100000"/>
                        </a:lnSpc>
                      </a:pPr>
                      <a:r>
                        <a:rPr lang="en-US" b="true" i="false" strike="noStrike" u="none" sz="1300">
                          <a:solidFill>
                            <a:srgbClr val="1A1A2E"/>
                          </a:solidFill>
                          <a:latin typeface="IBM Plex Sans"/>
                          <a:ea typeface="IBM Plex Sans"/>
                          <a:cs typeface="IBM Plex Sans"/>
                          <a:sym typeface="IBM Plex Sans"/>
                        </a:rPr>
                        <a:t>(GCN, GRU, LSTM)</a:t>
                      </a:r>
                    </a:p>
                  </a:txBody>
                  <a:tcPr anchor="ctr" anchorCtr="false" marL="101600" marR="101600" marT="101600" marB="101600">
                    <a:lnL>
                      <a:noFill/>
                    </a:lnL>
                    <a:lnR>
                      <a:noFill/>
                    </a:lnR>
                    <a:lnT>
                      <a:noFill/>
                    </a:lnT>
                    <a:lnB>
                      <a:noFill/>
                    </a:lnB>
                    <a:solidFill>
                      <a:srgbClr val="EBE9E4">
                        <a:alpha val="100000"/>
                      </a:srgbClr>
                    </a:solidFill>
                  </a:tcPr>
                </a:tc>
                <a:tc>
                  <a:txBody>
                    <a:bodyPr anchor="t" rtlCol="false"/>
                    <a:lstStyle/>
                    <a:p>
                      <a:pPr algn="l" marL="0" indent="0">
                        <a:lnSpc>
                          <a:spcPct val="116666"/>
                        </a:lnSpc>
                        <a:defRPr/>
                      </a:pPr>
                      <a:r>
                        <a:rPr lang="en-US" b="false" i="false" strike="noStrike" u="none" sz="1200">
                          <a:solidFill>
                            <a:srgbClr val="464646"/>
                          </a:solidFill>
                          <a:latin typeface="IBM Plex Sans"/>
                          <a:ea typeface="IBM Plex Sans"/>
                          <a:cs typeface="IBM Plex Sans"/>
                          <a:sym typeface="IBM Plex Sans"/>
                        </a:rPr>
                        <a:t>Captures local spatial correlations well</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16666"/>
                        </a:lnSpc>
                        <a:defRPr/>
                      </a:pPr>
                      <a:r>
                        <a:rPr lang="en-US" b="false" i="false" strike="noStrike" u="none" sz="1200">
                          <a:solidFill>
                            <a:srgbClr val="464646"/>
                          </a:solidFill>
                          <a:latin typeface="IBM Plex Sans"/>
                          <a:ea typeface="IBM Plex Sans"/>
                          <a:cs typeface="IBM Plex Sans"/>
                          <a:sym typeface="IBM Plex Sans"/>
                        </a:rPr>
                        <a:t>Limited long-range temporal dependence; static graph discards dynamic info</a:t>
                      </a:r>
                      <a:endParaRPr lang="en-US" sz="1100"/>
                    </a:p>
                  </a:txBody>
                  <a:tcPr anchor="ctr" anchorCtr="false" marL="101600" marR="101600" marT="101600" marB="101600">
                    <a:lnL>
                      <a:noFill/>
                    </a:lnL>
                    <a:lnR>
                      <a:noFill/>
                    </a:lnR>
                    <a:lnT>
                      <a:noFill/>
                    </a:lnT>
                    <a:lnB>
                      <a:noFill/>
                    </a:lnB>
                    <a:noFill/>
                  </a:tcPr>
                </a:tc>
              </a:tr>
              <a:tr h="1016000">
                <a:tc>
                  <a:txBody>
                    <a:bodyPr anchor="t" rtlCol="false"/>
                    <a:lstStyle/>
                    <a:p>
                      <a:pPr algn="ctr" marL="0" indent="0">
                        <a:lnSpc>
                          <a:spcPct val="100000"/>
                        </a:lnSpc>
                        <a:defRPr/>
                      </a:pPr>
                      <a:r>
                        <a:rPr lang="en-US" b="true" i="false" strike="noStrike" u="none" sz="1300">
                          <a:solidFill>
                            <a:srgbClr val="2D6A4F"/>
                          </a:solidFill>
                          <a:latin typeface="IBM Plex Sans"/>
                          <a:ea typeface="IBM Plex Sans"/>
                          <a:cs typeface="IBM Plex Sans"/>
                          <a:sym typeface="IBM Plex Sans"/>
                        </a:rPr>
                        <a:t>Deep Learning</a:t>
                      </a:r>
                      <a:endParaRPr lang="en-US" sz="1100"/>
                    </a:p>
                    <a:p>
                      <a:pPr algn="ctr" marL="0" indent="0">
                        <a:lnSpc>
                          <a:spcPct val="100000"/>
                        </a:lnSpc>
                      </a:pPr>
                      <a:r>
                        <a:rPr lang="en-US" b="true" i="false" strike="noStrike" u="none" sz="1300">
                          <a:solidFill>
                            <a:srgbClr val="2D6A4F"/>
                          </a:solidFill>
                          <a:latin typeface="IBM Plex Sans"/>
                          <a:ea typeface="IBM Plex Sans"/>
                          <a:cs typeface="IBM Plex Sans"/>
                          <a:sym typeface="IBM Plex Sans"/>
                        </a:rPr>
                        <a:t>(Transformer, AGFormer)</a:t>
                      </a:r>
                    </a:p>
                  </a:txBody>
                  <a:tcPr anchor="ctr" anchorCtr="false" marL="101600" marR="101600" marT="101600" marB="101600">
                    <a:lnL>
                      <a:noFill/>
                    </a:lnL>
                    <a:lnR>
                      <a:noFill/>
                    </a:lnR>
                    <a:lnT>
                      <a:noFill/>
                    </a:lnT>
                    <a:lnB>
                      <a:noFill/>
                    </a:lnB>
                    <a:solidFill>
                      <a:srgbClr val="EBE9E4">
                        <a:alpha val="100000"/>
                      </a:srgbClr>
                    </a:solidFill>
                  </a:tcPr>
                </a:tc>
                <a:tc>
                  <a:txBody>
                    <a:bodyPr anchor="t" rtlCol="false"/>
                    <a:lstStyle/>
                    <a:p>
                      <a:pPr algn="l" marL="0" indent="0">
                        <a:lnSpc>
                          <a:spcPct val="116666"/>
                        </a:lnSpc>
                        <a:defRPr/>
                      </a:pPr>
                      <a:r>
                        <a:rPr lang="en-US" b="false" i="false" strike="noStrike" u="none" sz="1200">
                          <a:solidFill>
                            <a:srgbClr val="464646"/>
                          </a:solidFill>
                          <a:latin typeface="IBM Plex Sans"/>
                          <a:ea typeface="IBM Plex Sans"/>
                          <a:cs typeface="IBM Plex Sans"/>
                          <a:sym typeface="IBM Plex Sans"/>
                        </a:rPr>
                        <a:t>Multi-modal fusion; long-horizon forecasting; flexible spatial-temporal coupling</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16666"/>
                        </a:lnSpc>
                        <a:defRPr/>
                      </a:pPr>
                      <a:r>
                        <a:rPr lang="en-US" b="false" i="false" strike="noStrike" u="none" sz="1200">
                          <a:solidFill>
                            <a:srgbClr val="464646"/>
                          </a:solidFill>
                          <a:latin typeface="IBM Plex Sans"/>
                          <a:ea typeface="IBM Plex Sans"/>
                          <a:cs typeface="IBM Plex Sans"/>
                          <a:sym typeface="IBM Plex Sans"/>
                        </a:rPr>
                        <a:t>Large parameter count; overfits on small datasets like BJ-Taxi</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6" id="6"/>
          <p:cNvSpPr txBox="true"/>
          <p:nvPr/>
        </p:nvSpPr>
        <p:spPr>
          <a:xfrm rot="0" flipH="false" flipV="false">
            <a:off x="1016000" y="59690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6A4F"/>
                </a:solidFill>
                <a:latin typeface="IBM Plex Sans"/>
                <a:ea typeface="IBM Plex Sans"/>
                <a:cs typeface="IBM Plex Sans"/>
                <a:sym typeface="IBM Plex Sans"/>
              </a:rPr>
              <a:t>Direction:</a:t>
            </a:r>
            <a:r>
              <a:rPr lang="en-US" b="false" i="false" strike="noStrike" u="none" sz="1300">
                <a:solidFill>
                  <a:srgbClr val="2D6A4F"/>
                </a:solidFill>
                <a:latin typeface="IBM Plex Sans"/>
                <a:ea typeface="IBM Plex Sans"/>
                <a:cs typeface="IBM Plex Sans"/>
                <a:sym typeface="IBM Plex Sans"/>
              </a:rPr>
              <a:t> fuse deep-learning expressiveness with parameter efficiency for small-data settings.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2D6A4F"/>
                </a:solidFill>
                <a:latin typeface="IBM Plex Sans"/>
                <a:ea typeface="IBM Plex Sans"/>
                <a:cs typeface="IBM Plex Sans"/>
                <a:sym typeface="IBM Plex Sans"/>
              </a:rPr>
              <a:t>02 · BASELINE &amp; MOTIVATION</a:t>
            </a:r>
            <a:endParaRPr lang="en-US" sz="1100"/>
          </a:p>
        </p:txBody>
      </p:sp>
      <p:sp>
        <p:nvSpPr>
          <p:cNvPr name="AutoShape 3" id="3"/>
          <p:cNvSpPr txBox="true"/>
          <p:nvPr/>
        </p:nvSpPr>
        <p:spPr>
          <a:xfrm rot="0" flipH="false" flipV="false">
            <a:off x="1016000" y="10160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A1A2E"/>
                </a:solidFill>
                <a:latin typeface="IBM Plex Sans"/>
                <a:ea typeface="IBM Plex Sans"/>
                <a:cs typeface="IBM Plex Sans"/>
                <a:sym typeface="IBM Plex Sans"/>
              </a:rPr>
              <a:t>AGFormer is strong, but too heavy for BJ-Taxi</a:t>
            </a:r>
            <a:endParaRPr lang="en-US" sz="1100"/>
          </a:p>
        </p:txBody>
      </p:sp>
      <p:cxnSp>
        <p:nvCxnSpPr>
          <p:cNvPr name="Connector 4" id="4"/>
          <p:cNvCxnSpPr/>
          <p:nvPr/>
        </p:nvCxnSpPr>
        <p:spPr>
          <a:xfrm rot="-4297" flipH="false" flipV="false">
            <a:off x="1016004" y="1771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5" id="5"/>
          <p:cNvSpPr txBox="true"/>
          <p:nvPr/>
        </p:nvSpPr>
        <p:spPr>
          <a:xfrm rot="0" flipH="false" flipV="false">
            <a:off x="1016000" y="20955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6A4F"/>
                </a:solidFill>
                <a:latin typeface="IBM Plex Sans"/>
                <a:ea typeface="IBM Plex Sans"/>
                <a:cs typeface="IBM Plex Sans"/>
                <a:sym typeface="IBM Plex Sans"/>
              </a:rPr>
              <a:t>Baseline: AGFormer</a:t>
            </a:r>
            <a:endParaRPr lang="en-US" sz="1100"/>
          </a:p>
        </p:txBody>
      </p:sp>
      <p:sp>
        <p:nvSpPr>
          <p:cNvPr name="AutoShape 6" id="6"/>
          <p:cNvSpPr txBox="true"/>
          <p:nvPr/>
        </p:nvSpPr>
        <p:spPr>
          <a:xfrm rot="0" flipH="false" flipV="false">
            <a:off x="1016000" y="2514600"/>
            <a:ext cx="4826000" cy="1778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33333"/>
              </a:lnSpc>
              <a:buClr>
                <a:srgbClr val="464646"/>
              </a:buClr>
              <a:buChar char="•"/>
              <a:defRPr/>
            </a:pPr>
            <a:r>
              <a:rPr lang="en-US" b="false" i="false" strike="noStrike" u="none" sz="1400">
                <a:solidFill>
                  <a:srgbClr val="464646"/>
                </a:solidFill>
                <a:latin typeface="IBM Plex Sans"/>
                <a:ea typeface="IBM Plex Sans"/>
                <a:cs typeface="IBM Plex Sans"/>
                <a:sym typeface="IBM Plex Sans"/>
              </a:rPr>
              <a:t>Dynamic-graph attention with parallel Transformer stacks</a:t>
            </a:r>
            <a:endParaRPr lang="en-US" sz="1100"/>
          </a:p>
          <a:p>
            <a:pPr algn="l" indent="-177800" marL="177800">
              <a:lnSpc>
                <a:spcPct val="133333"/>
              </a:lnSpc>
              <a:buClr>
                <a:srgbClr val="464646"/>
              </a:buClr>
              <a:buChar char="•"/>
            </a:pPr>
            <a:r>
              <a:rPr lang="en-US" b="false" i="false" strike="noStrike" u="none" sz="1400">
                <a:solidFill>
                  <a:srgbClr val="464646"/>
                </a:solidFill>
                <a:latin typeface="IBM Plex Sans"/>
                <a:ea typeface="IBM Plex Sans"/>
                <a:cs typeface="IBM Plex Sans"/>
                <a:sym typeface="IBM Plex Sans"/>
              </a:rPr>
              <a:t>Spatial-temporal token fusion + self-attention cross-correlation</a:t>
            </a:r>
          </a:p>
          <a:p>
            <a:pPr algn="l" indent="-177800" marL="177800">
              <a:lnSpc>
                <a:spcPct val="133333"/>
              </a:lnSpc>
              <a:buClr>
                <a:srgbClr val="464646"/>
              </a:buClr>
              <a:buChar char="•"/>
            </a:pPr>
            <a:r>
              <a:rPr lang="en-US" b="false" i="false" strike="noStrike" u="none" sz="1400">
                <a:solidFill>
                  <a:srgbClr val="464646"/>
                </a:solidFill>
                <a:latin typeface="IBM Plex Sans"/>
                <a:ea typeface="IBM Plex Sans"/>
                <a:cs typeface="IBM Plex Sans"/>
                <a:sym typeface="IBM Plex Sans"/>
              </a:rPr>
              <a:t>Augmented with static graph / GCN modules</a:t>
            </a:r>
          </a:p>
          <a:p>
            <a:pPr algn="l" indent="-177800" marL="177800">
              <a:lnSpc>
                <a:spcPct val="133333"/>
              </a:lnSpc>
              <a:buClr>
                <a:srgbClr val="464646"/>
              </a:buClr>
              <a:buChar char="•"/>
            </a:pPr>
            <a:r>
              <a:rPr lang="en-US" b="false" i="false" strike="noStrike" u="none" sz="1400">
                <a:solidFill>
                  <a:srgbClr val="464646"/>
                </a:solidFill>
                <a:latin typeface="IBM Plex Sans"/>
                <a:ea typeface="IBM Plex Sans"/>
                <a:cs typeface="IBM Plex Sans"/>
                <a:sym typeface="IBM Plex Sans"/>
              </a:rPr>
              <a:t>Large parameter footprint</a:t>
            </a:r>
          </a:p>
        </p:txBody>
      </p:sp>
      <p:sp>
        <p:nvSpPr>
          <p:cNvPr name="AutoShape 7" id="7"/>
          <p:cNvSpPr txBox="true"/>
          <p:nvPr/>
        </p:nvSpPr>
        <p:spPr>
          <a:xfrm rot="0" flipH="false" flipV="false">
            <a:off x="6350000" y="20955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6A4F"/>
                </a:solidFill>
                <a:latin typeface="IBM Plex Sans"/>
                <a:ea typeface="IBM Plex Sans"/>
                <a:cs typeface="IBM Plex Sans"/>
                <a:sym typeface="IBM Plex Sans"/>
              </a:rPr>
              <a:t>Problem on BJ-Taxi</a:t>
            </a:r>
            <a:endParaRPr lang="en-US" sz="1100"/>
          </a:p>
        </p:txBody>
      </p:sp>
      <p:sp>
        <p:nvSpPr>
          <p:cNvPr name="AutoShape 8" id="8"/>
          <p:cNvSpPr txBox="true"/>
          <p:nvPr/>
        </p:nvSpPr>
        <p:spPr>
          <a:xfrm rot="0" flipH="false" flipV="false">
            <a:off x="6350000" y="2514600"/>
            <a:ext cx="4826000" cy="1778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33333"/>
              </a:lnSpc>
              <a:buClr>
                <a:srgbClr val="464646"/>
              </a:buClr>
              <a:buChar char="•"/>
              <a:defRPr/>
            </a:pPr>
            <a:r>
              <a:rPr lang="en-US" b="false" i="false" strike="noStrike" u="none" sz="1400">
                <a:solidFill>
                  <a:srgbClr val="464646"/>
                </a:solidFill>
                <a:latin typeface="IBM Plex Sans"/>
                <a:ea typeface="IBM Plex Sans"/>
                <a:cs typeface="IBM Plex Sans"/>
                <a:sym typeface="IBM Plex Sans"/>
              </a:rPr>
              <a:t>Limited sample volume in the BS-Txi / BJ-Taxi split</a:t>
            </a:r>
            <a:endParaRPr lang="en-US" sz="1100"/>
          </a:p>
          <a:p>
            <a:pPr algn="l" indent="-177800" marL="177800">
              <a:lnSpc>
                <a:spcPct val="133333"/>
              </a:lnSpc>
              <a:buClr>
                <a:srgbClr val="464646"/>
              </a:buClr>
              <a:buChar char="•"/>
            </a:pPr>
            <a:r>
              <a:rPr lang="en-US" b="false" i="false" strike="noStrike" u="none" sz="1400">
                <a:solidFill>
                  <a:srgbClr val="464646"/>
                </a:solidFill>
                <a:latin typeface="IBM Plex Sans"/>
                <a:ea typeface="IBM Plex Sans"/>
                <a:cs typeface="IBM Plex Sans"/>
                <a:sym typeface="IBM Plex Sans"/>
              </a:rPr>
              <a:t>Fine-tuning a large model easily overfits</a:t>
            </a:r>
          </a:p>
          <a:p>
            <a:pPr algn="l" indent="-177800" marL="177800">
              <a:lnSpc>
                <a:spcPct val="133333"/>
              </a:lnSpc>
              <a:buClr>
                <a:srgbClr val="464646"/>
              </a:buClr>
              <a:buChar char="•"/>
            </a:pPr>
            <a:r>
              <a:rPr lang="en-US" b="false" i="false" strike="noStrike" u="none" sz="1400">
                <a:solidFill>
                  <a:srgbClr val="464646"/>
                </a:solidFill>
                <a:latin typeface="IBM Plex Sans"/>
                <a:ea typeface="IBM Plex Sans"/>
                <a:cs typeface="IBM Plex Sans"/>
                <a:sym typeface="IBM Plex Sans"/>
              </a:rPr>
              <a:t>Many parameters are redundant for this scale of graph</a:t>
            </a:r>
          </a:p>
          <a:p>
            <a:pPr algn="l" indent="-177800" marL="177800">
              <a:lnSpc>
                <a:spcPct val="133333"/>
              </a:lnSpc>
              <a:buClr>
                <a:srgbClr val="464646"/>
              </a:buClr>
              <a:buChar char="•"/>
            </a:pPr>
            <a:r>
              <a:rPr lang="en-US" b="false" i="false" strike="noStrike" u="none" sz="1400">
                <a:solidFill>
                  <a:srgbClr val="464646"/>
                </a:solidFill>
                <a:latin typeface="IBM Plex Sans"/>
                <a:ea typeface="IBM Plex Sans"/>
                <a:cs typeface="IBM Plex Sans"/>
                <a:sym typeface="IBM Plex Sans"/>
              </a:rPr>
              <a:t>Need a lightweight alternative with comparable accuracy</a:t>
            </a:r>
          </a:p>
        </p:txBody>
      </p:sp>
      <p:cxnSp>
        <p:nvCxnSpPr>
          <p:cNvPr name="Connector 9" id="9"/>
          <p:cNvCxnSpPr/>
          <p:nvPr/>
        </p:nvCxnSpPr>
        <p:spPr>
          <a:xfrm rot="-4297" flipH="false" flipV="false">
            <a:off x="1016004" y="4819650"/>
            <a:ext cx="10160000" cy="12700"/>
          </a:xfrm>
          <a:prstGeom prst="straightConnector1">
            <a:avLst/>
          </a:prstGeom>
          <a:solidFill>
            <a:srgbClr val="DEE0E3">
              <a:alpha val="100000"/>
            </a:srgbClr>
          </a:solidFill>
          <a:ln w="12700" cmpd="sng" cap="flat">
            <a:solidFill>
              <a:srgbClr val="2D6A4F">
                <a:alpha val="100000"/>
              </a:srgbClr>
            </a:solidFill>
            <a:prstDash val="solid"/>
            <a:round/>
            <a:headEnd type="none" w="med" len="med"/>
            <a:tailEnd type="none" w="med" len="med"/>
          </a:ln>
        </p:spPr>
      </p:cxnSp>
      <p:sp>
        <p:nvSpPr>
          <p:cNvPr name="AutoShape 10" id="10"/>
          <p:cNvSpPr txBox="true"/>
          <p:nvPr/>
        </p:nvSpPr>
        <p:spPr>
          <a:xfrm rot="0" flipH="false" flipV="false">
            <a:off x="1016000" y="4991100"/>
            <a:ext cx="10160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6A4F"/>
                </a:solidFill>
                <a:latin typeface="IBM Plex Sans"/>
                <a:ea typeface="IBM Plex Sans"/>
                <a:cs typeface="IBM Plex Sans"/>
                <a:sym typeface="IBM Plex Sans"/>
              </a:rPr>
              <a:t>Our approach:</a:t>
            </a:r>
            <a:r>
              <a:rPr lang="en-US" b="false" i="false" strike="noStrike" u="none" sz="1500">
                <a:solidFill>
                  <a:srgbClr val="1A1A2E"/>
                </a:solidFill>
                <a:latin typeface="IBM Plex Sans"/>
                <a:ea typeface="IBM Plex Sans"/>
                <a:cs typeface="IBM Plex Sans"/>
                <a:sym typeface="IBM Plex Sans"/>
              </a:rPr>
              <a:t> Lightweight STF — Spatial-Temporal Factorized Transformer — achieves better prediction than AGFormer with significantly fewer parameters, adapted specifically to the BJ-Taxi data scale.</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2D6A4F"/>
                </a:solidFill>
                <a:latin typeface="IBM Plex Sans"/>
                <a:ea typeface="IBM Plex Sans"/>
                <a:cs typeface="IBM Plex Sans"/>
                <a:sym typeface="IBM Plex Sans"/>
              </a:rPr>
              <a:t>03 · STF ARCHITECTURE</a:t>
            </a:r>
            <a:endParaRPr lang="en-US" sz="1100"/>
          </a:p>
        </p:txBody>
      </p:sp>
      <p:sp>
        <p:nvSpPr>
          <p:cNvPr name="AutoShape 3" id="3"/>
          <p:cNvSpPr txBox="true"/>
          <p:nvPr/>
        </p:nvSpPr>
        <p:spPr>
          <a:xfrm rot="0" flipH="false" flipV="false">
            <a:off x="1016000" y="10160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A1A2E"/>
                </a:solidFill>
                <a:latin typeface="IBM Plex Sans"/>
                <a:ea typeface="IBM Plex Sans"/>
                <a:cs typeface="IBM Plex Sans"/>
                <a:sym typeface="IBM Plex Sans"/>
              </a:rPr>
              <a:t>Dual-branch factorization: Env global + Loc local</a:t>
            </a:r>
            <a:endParaRPr lang="en-US" sz="1100"/>
          </a:p>
        </p:txBody>
      </p:sp>
      <p:cxnSp>
        <p:nvCxnSpPr>
          <p:cNvPr name="Connector 4" id="4"/>
          <p:cNvCxnSpPr/>
          <p:nvPr/>
        </p:nvCxnSpPr>
        <p:spPr>
          <a:xfrm rot="-4297" flipH="false" flipV="false">
            <a:off x="1016004" y="1771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5" id="5"/>
          <p:cNvSpPr/>
          <p:nvPr/>
        </p:nvSpPr>
        <p:spPr>
          <a:xfrm rot="0" flipH="false" flipV="false">
            <a:off x="4318000" y="2032000"/>
            <a:ext cx="3556000" cy="558800"/>
          </a:xfrm>
          <a:prstGeom prst="roundRect">
            <a:avLst>
              <a:gd name="adj" fmla="val 13636"/>
            </a:avLst>
          </a:prstGeom>
          <a:solidFill>
            <a:srgbClr val="1A1A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txBox="true"/>
          <p:nvPr/>
        </p:nvSpPr>
        <p:spPr>
          <a:xfrm rot="0" flipH="false" flipV="false">
            <a:off x="4318000" y="2032000"/>
            <a:ext cx="3556000" cy="558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FFFFFF"/>
                </a:solidFill>
                <a:latin typeface="IBM Plex Sans"/>
                <a:ea typeface="IBM Plex Sans"/>
                <a:cs typeface="IBM Plex Sans"/>
                <a:sym typeface="IBM Plex Sans"/>
              </a:rPr>
              <a:t>Input x_node: (B, N=1024, F_in, T=48)</a:t>
            </a:r>
            <a:endParaRPr lang="en-US" sz="1100"/>
          </a:p>
        </p:txBody>
      </p:sp>
      <p:cxnSp>
        <p:nvCxnSpPr>
          <p:cNvPr name="Connector 7" id="7"/>
          <p:cNvCxnSpPr/>
          <p:nvPr/>
        </p:nvCxnSpPr>
        <p:spPr>
          <a:xfrm rot="9916820" flipH="false" flipV="false">
            <a:off x="3015154" y="2844805"/>
            <a:ext cx="2097654" cy="12700"/>
          </a:xfrm>
          <a:prstGeom prst="straightConnector1">
            <a:avLst/>
          </a:prstGeom>
          <a:solidFill>
            <a:srgbClr val="DEE0E3">
              <a:alpha val="100000"/>
            </a:srgbClr>
          </a:solidFill>
          <a:ln w="25400" cmpd="sng" cap="flat">
            <a:solidFill>
              <a:srgbClr val="828282">
                <a:alpha val="100000"/>
              </a:srgbClr>
            </a:solidFill>
            <a:prstDash val="solid"/>
            <a:round/>
            <a:headEnd type="none" w="lg" len="lg"/>
            <a:tailEnd type="arrow" w="lg" len="lg"/>
          </a:ln>
        </p:spPr>
      </p:cxnSp>
      <p:cxnSp>
        <p:nvCxnSpPr>
          <p:cNvPr name="Connector 8" id="8"/>
          <p:cNvCxnSpPr/>
          <p:nvPr/>
        </p:nvCxnSpPr>
        <p:spPr>
          <a:xfrm rot="841553" flipH="false" flipV="false">
            <a:off x="7079192" y="2844805"/>
            <a:ext cx="2097654" cy="12700"/>
          </a:xfrm>
          <a:prstGeom prst="straightConnector1">
            <a:avLst/>
          </a:prstGeom>
          <a:solidFill>
            <a:srgbClr val="DEE0E3">
              <a:alpha val="100000"/>
            </a:srgbClr>
          </a:solidFill>
          <a:ln w="25400" cmpd="sng" cap="flat">
            <a:solidFill>
              <a:srgbClr val="828282">
                <a:alpha val="100000"/>
              </a:srgbClr>
            </a:solidFill>
            <a:prstDash val="solid"/>
            <a:round/>
            <a:headEnd type="none" w="lg" len="lg"/>
            <a:tailEnd type="arrow" w="lg" len="lg"/>
          </a:ln>
        </p:spPr>
      </p:cxnSp>
      <p:sp>
        <p:nvSpPr>
          <p:cNvPr name="AutoShape 9" id="9"/>
          <p:cNvSpPr/>
          <p:nvPr/>
        </p:nvSpPr>
        <p:spPr>
          <a:xfrm rot="0" flipH="false" flipV="false">
            <a:off x="1651000" y="3175000"/>
            <a:ext cx="2794000" cy="711200"/>
          </a:xfrm>
          <a:prstGeom prst="roundRect">
            <a:avLst>
              <a:gd name="adj" fmla="val 10714"/>
            </a:avLst>
          </a:prstGeom>
          <a:solidFill>
            <a:srgbClr val="2D6A4F">
              <a:alpha val="12000"/>
            </a:srgbClr>
          </a:solidFill>
          <a:ln w="25400" cmpd="sng" cap="flat">
            <a:solidFill>
              <a:srgbClr val="2D6A4F">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txBox="true"/>
          <p:nvPr/>
        </p:nvSpPr>
        <p:spPr>
          <a:xfrm rot="0" flipH="false" flipV="false">
            <a:off x="1651000" y="3175000"/>
            <a:ext cx="2794000" cy="711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true" i="false" strike="noStrike" u="none" sz="1300">
                <a:solidFill>
                  <a:srgbClr val="1A1A2E"/>
                </a:solidFill>
                <a:latin typeface="IBM Plex Sans"/>
                <a:ea typeface="IBM Plex Sans"/>
                <a:cs typeface="IBM Plex Sans"/>
                <a:sym typeface="IBM Plex Sans"/>
              </a:rPr>
              <a:t>Env Branch (Global)</a:t>
            </a:r>
            <a:r>
              <a:rPr lang="en-US" b="false" i="false" strike="noStrike" u="none" sz="1300">
                <a:solidFill>
                  <a:srgbClr val="1A1A2E"/>
                </a:solidFill>
                <a:latin typeface="IBM Plex Sans"/>
                <a:ea typeface="IBM Plex Sans"/>
                <a:cs typeface="IBM Plex Sans"/>
                <a:sym typeface="IBM Plex Sans"/>
              </a:rPr>
              <a:t/>
            </a:r>
            <a:endParaRPr lang="en-US" sz="1100"/>
          </a:p>
          <a:p>
            <a:pPr algn="ctr" marL="0" indent="0">
              <a:lnSpc>
                <a:spcPct val="108333"/>
              </a:lnSpc>
            </a:pPr>
            <a:r>
              <a:rPr lang="en-US" b="false" i="false" strike="noStrike" u="none" sz="1300">
                <a:solidFill>
                  <a:srgbClr val="1A1A2E"/>
                </a:solidFill>
                <a:latin typeface="IBM Plex Sans"/>
                <a:ea typeface="IBM Plex Sans"/>
                <a:cs typeface="IBM Plex Sans"/>
                <a:sym typeface="IBM Plex Sans"/>
              </a:rPr>
              <a:t>sum(nodes) → proj → Transformer</a:t>
            </a:r>
          </a:p>
        </p:txBody>
      </p:sp>
      <p:sp>
        <p:nvSpPr>
          <p:cNvPr name="AutoShape 11" id="11"/>
          <p:cNvSpPr/>
          <p:nvPr/>
        </p:nvSpPr>
        <p:spPr>
          <a:xfrm rot="0" flipH="false" flipV="false">
            <a:off x="7747000" y="3175000"/>
            <a:ext cx="2794000" cy="711200"/>
          </a:xfrm>
          <a:prstGeom prst="roundRect">
            <a:avLst>
              <a:gd name="adj" fmla="val 10714"/>
            </a:avLst>
          </a:prstGeom>
          <a:solidFill>
            <a:srgbClr val="2D6A4F">
              <a:alpha val="12000"/>
            </a:srgbClr>
          </a:solidFill>
          <a:ln w="25400" cmpd="sng" cap="flat">
            <a:solidFill>
              <a:srgbClr val="2D6A4F">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txBox="true"/>
          <p:nvPr/>
        </p:nvSpPr>
        <p:spPr>
          <a:xfrm rot="0" flipH="false" flipV="false">
            <a:off x="7747000" y="3175000"/>
            <a:ext cx="2794000" cy="711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true" i="false" strike="noStrike" u="none" sz="1300">
                <a:solidFill>
                  <a:srgbClr val="1A1A2E"/>
                </a:solidFill>
                <a:latin typeface="IBM Plex Sans"/>
                <a:ea typeface="IBM Plex Sans"/>
                <a:cs typeface="IBM Plex Sans"/>
                <a:sym typeface="IBM Plex Sans"/>
              </a:rPr>
              <a:t>Loc Branch (Local)</a:t>
            </a:r>
            <a:r>
              <a:rPr lang="en-US" b="false" i="false" strike="noStrike" u="none" sz="1300">
                <a:solidFill>
                  <a:srgbClr val="1A1A2E"/>
                </a:solidFill>
                <a:latin typeface="IBM Plex Sans"/>
                <a:ea typeface="IBM Plex Sans"/>
                <a:cs typeface="IBM Plex Sans"/>
                <a:sym typeface="IBM Plex Sans"/>
              </a:rPr>
              <a:t/>
            </a:r>
            <a:endParaRPr lang="en-US" sz="1100"/>
          </a:p>
          <a:p>
            <a:pPr algn="ctr" marL="0" indent="0">
              <a:lnSpc>
                <a:spcPct val="108333"/>
              </a:lnSpc>
            </a:pPr>
            <a:r>
              <a:rPr lang="en-US" b="false" i="false" strike="noStrike" u="none" sz="1300">
                <a:solidFill>
                  <a:srgbClr val="1A1A2E"/>
                </a:solidFill>
                <a:latin typeface="IBM Plex Sans"/>
                <a:ea typeface="IBM Plex Sans"/>
                <a:cs typeface="IBM Plex Sans"/>
                <a:sym typeface="IBM Plex Sans"/>
              </a:rPr>
              <a:t>per-node projection</a:t>
            </a:r>
          </a:p>
        </p:txBody>
      </p:sp>
      <p:cxnSp>
        <p:nvCxnSpPr>
          <p:cNvPr name="Connector 13" id="13"/>
          <p:cNvCxnSpPr/>
          <p:nvPr/>
        </p:nvCxnSpPr>
        <p:spPr>
          <a:xfrm rot="801048" flipH="false" flipV="false">
            <a:off x="3018272" y="4127505"/>
            <a:ext cx="2091494" cy="12700"/>
          </a:xfrm>
          <a:prstGeom prst="straightConnector1">
            <a:avLst/>
          </a:prstGeom>
          <a:solidFill>
            <a:srgbClr val="DEE0E3">
              <a:alpha val="100000"/>
            </a:srgbClr>
          </a:solidFill>
          <a:ln w="25400" cmpd="sng" cap="flat">
            <a:solidFill>
              <a:srgbClr val="828282">
                <a:alpha val="100000"/>
              </a:srgbClr>
            </a:solidFill>
            <a:prstDash val="solid"/>
            <a:round/>
            <a:headEnd type="none" w="lg" len="lg"/>
            <a:tailEnd type="arrow" w="lg" len="lg"/>
          </a:ln>
        </p:spPr>
      </p:cxnSp>
      <p:cxnSp>
        <p:nvCxnSpPr>
          <p:cNvPr name="Connector 14" id="14"/>
          <p:cNvCxnSpPr/>
          <p:nvPr/>
        </p:nvCxnSpPr>
        <p:spPr>
          <a:xfrm rot="9957202" flipH="false" flipV="false">
            <a:off x="7082234" y="4127505"/>
            <a:ext cx="2091494" cy="12700"/>
          </a:xfrm>
          <a:prstGeom prst="straightConnector1">
            <a:avLst/>
          </a:prstGeom>
          <a:solidFill>
            <a:srgbClr val="DEE0E3">
              <a:alpha val="100000"/>
            </a:srgbClr>
          </a:solidFill>
          <a:ln w="25400" cmpd="sng" cap="flat">
            <a:solidFill>
              <a:srgbClr val="828282">
                <a:alpha val="100000"/>
              </a:srgbClr>
            </a:solidFill>
            <a:prstDash val="solid"/>
            <a:round/>
            <a:headEnd type="none" w="lg" len="lg"/>
            <a:tailEnd type="arrow" w="lg" len="lg"/>
          </a:ln>
        </p:spPr>
      </p:cxnSp>
      <p:sp>
        <p:nvSpPr>
          <p:cNvPr name="AutoShape 15" id="15"/>
          <p:cNvSpPr/>
          <p:nvPr/>
        </p:nvSpPr>
        <p:spPr>
          <a:xfrm rot="0" flipH="false" flipV="false">
            <a:off x="4318000" y="4445000"/>
            <a:ext cx="3556000" cy="711200"/>
          </a:xfrm>
          <a:prstGeom prst="roundRect">
            <a:avLst>
              <a:gd name="adj" fmla="val 10714"/>
            </a:avLst>
          </a:prstGeom>
          <a:solidFill>
            <a:srgbClr val="2D6A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txBox="true"/>
          <p:nvPr/>
        </p:nvSpPr>
        <p:spPr>
          <a:xfrm rot="0" flipH="false" flipV="false">
            <a:off x="4318000" y="4445000"/>
            <a:ext cx="3556000" cy="711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true" i="false" strike="noStrike" u="none" sz="1300">
                <a:solidFill>
                  <a:srgbClr val="FFFFFF"/>
                </a:solidFill>
                <a:latin typeface="IBM Plex Sans"/>
                <a:ea typeface="IBM Plex Sans"/>
                <a:cs typeface="IBM Plex Sans"/>
                <a:sym typeface="IBM Plex Sans"/>
              </a:rPr>
              <a:t>Cross-Attention: Loc × Env</a:t>
            </a:r>
            <a:r>
              <a:rPr lang="en-US" b="false" i="false" strike="noStrike" u="none" sz="1300">
                <a:solidFill>
                  <a:srgbClr val="FFFFFF"/>
                </a:solidFill>
                <a:latin typeface="IBM Plex Sans"/>
                <a:ea typeface="IBM Plex Sans"/>
                <a:cs typeface="IBM Plex Sans"/>
                <a:sym typeface="IBM Plex Sans"/>
              </a:rPr>
              <a:t/>
            </a:r>
            <a:endParaRPr lang="en-US" sz="1100"/>
          </a:p>
          <a:p>
            <a:pPr algn="ctr" marL="0" indent="0">
              <a:lnSpc>
                <a:spcPct val="108333"/>
              </a:lnSpc>
            </a:pPr>
            <a:r>
              <a:rPr lang="en-US" b="false" i="false" strike="noStrike" u="none" sz="1300">
                <a:solidFill>
                  <a:srgbClr val="FFFFFF"/>
                </a:solidFill>
                <a:latin typeface="IBM Plex Sans"/>
                <a:ea typeface="IBM Plex Sans"/>
                <a:cs typeface="IBM Plex Sans"/>
                <a:sym typeface="IBM Plex Sans"/>
              </a:rPr>
              <a:t>output (BN, T, 64)</a:t>
            </a:r>
          </a:p>
        </p:txBody>
      </p:sp>
      <p:cxnSp>
        <p:nvCxnSpPr>
          <p:cNvPr name="Connector 17" id="17"/>
          <p:cNvCxnSpPr/>
          <p:nvPr/>
        </p:nvCxnSpPr>
        <p:spPr>
          <a:xfrm rot="5256843" flipH="false" flipV="false">
            <a:off x="5943600" y="5302382"/>
            <a:ext cx="304800" cy="12700"/>
          </a:xfrm>
          <a:prstGeom prst="straightConnector1">
            <a:avLst/>
          </a:prstGeom>
          <a:solidFill>
            <a:srgbClr val="DEE0E3">
              <a:alpha val="100000"/>
            </a:srgbClr>
          </a:solidFill>
          <a:ln w="25400" cmpd="sng" cap="flat">
            <a:solidFill>
              <a:srgbClr val="828282">
                <a:alpha val="100000"/>
              </a:srgbClr>
            </a:solidFill>
            <a:prstDash val="solid"/>
            <a:round/>
            <a:headEnd type="none" w="lg" len="lg"/>
            <a:tailEnd type="arrow" w="lg" len="lg"/>
          </a:ln>
        </p:spPr>
      </p:cxnSp>
      <p:sp>
        <p:nvSpPr>
          <p:cNvPr name="AutoShape 18" id="18"/>
          <p:cNvSpPr txBox="true"/>
          <p:nvPr/>
        </p:nvSpPr>
        <p:spPr>
          <a:xfrm rot="0" flipH="false" flipV="false">
            <a:off x="2286000" y="5524500"/>
            <a:ext cx="7620000" cy="355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464646"/>
                </a:solidFill>
                <a:latin typeface="IBM Plex Sans"/>
                <a:ea typeface="IBM Plex Sans"/>
                <a:cs typeface="IBM Plex Sans"/>
                <a:sym typeface="IBM Plex Sans"/>
              </a:rPr>
              <a:t>Conv1d Temporal → last timestep → MLP Decoder → (B, N, horizon=48)</a:t>
            </a:r>
            <a:endParaRPr lang="en-US" sz="1100"/>
          </a:p>
        </p:txBody>
      </p:sp>
      <p:sp>
        <p:nvSpPr>
          <p:cNvPr name="AutoShape 19" id="19"/>
          <p:cNvSpPr txBox="true"/>
          <p:nvPr/>
        </p:nvSpPr>
        <p:spPr>
          <a:xfrm rot="0" flipH="false" flipV="false">
            <a:off x="1016000" y="59690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828282"/>
                </a:solidFill>
                <a:latin typeface="IBM Plex Sans"/>
                <a:ea typeface="IBM Plex Sans"/>
                <a:cs typeface="IBM Plex Sans"/>
                <a:sym typeface="IBM Plex Sans"/>
              </a:rPr>
              <a:t>Design note: instead of stacking full self-attention over all nodes, STF factorizes global context (Env) from local node features (Loc) and fuses them with one cross-attention layer.</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2D6A4F"/>
                </a:solidFill>
                <a:latin typeface="IBM Plex Sans"/>
                <a:ea typeface="IBM Plex Sans"/>
                <a:cs typeface="IBM Plex Sans"/>
                <a:sym typeface="IBM Plex Sans"/>
              </a:rPr>
              <a:t>03 · FORWARD PIPELINE</a:t>
            </a:r>
            <a:endParaRPr lang="en-US" sz="1100"/>
          </a:p>
        </p:txBody>
      </p:sp>
      <p:sp>
        <p:nvSpPr>
          <p:cNvPr name="AutoShape 3" id="3"/>
          <p:cNvSpPr txBox="true"/>
          <p:nvPr/>
        </p:nvSpPr>
        <p:spPr>
          <a:xfrm rot="0" flipH="false" flipV="false">
            <a:off x="1016000" y="10160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A1A2E"/>
                </a:solidFill>
                <a:latin typeface="IBM Plex Sans"/>
                <a:ea typeface="IBM Plex Sans"/>
                <a:cs typeface="IBM Plex Sans"/>
                <a:sym typeface="IBM Plex Sans"/>
              </a:rPr>
              <a:t>Tensor shape flow through STF</a:t>
            </a:r>
            <a:endParaRPr lang="en-US" sz="1100"/>
          </a:p>
        </p:txBody>
      </p:sp>
      <p:cxnSp>
        <p:nvCxnSpPr>
          <p:cNvPr name="Connector 4" id="4"/>
          <p:cNvCxnSpPr/>
          <p:nvPr/>
        </p:nvCxnSpPr>
        <p:spPr>
          <a:xfrm rot="-4297" flipH="false" flipV="false">
            <a:off x="1016004" y="1771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graphicFrame>
        <p:nvGraphicFramePr>
          <p:cNvPr name="Table 5" id="5"/>
          <p:cNvGraphicFramePr>
            <a:graphicFrameLocks noGrp="true"/>
          </p:cNvGraphicFramePr>
          <p:nvPr/>
        </p:nvGraphicFramePr>
        <p:xfrm>
          <a:off x="1016000" y="2032000"/>
          <a:ext cx="10160000" cy="4140200"/>
        </p:xfrm>
        <a:graphic>
          <a:graphicData uri="http://schemas.openxmlformats.org/drawingml/2006/table">
            <a:tbl>
              <a:tblPr>
                <a:effectLst/>
              </a:tblPr>
              <a:tblGrid>
                <a:gridCol w="3556000"/>
                <a:gridCol w="3302000"/>
                <a:gridCol w="3302000"/>
              </a:tblGrid>
              <a:tr h="482600">
                <a:tc>
                  <a:txBody>
                    <a:bodyPr anchor="t" rtlCol="false"/>
                    <a:lstStyle/>
                    <a:p>
                      <a:pPr algn="ctr" marL="0" indent="0">
                        <a:lnSpc>
                          <a:spcPct val="100000"/>
                        </a:lnSpc>
                        <a:defRPr/>
                      </a:pPr>
                      <a:r>
                        <a:rPr lang="en-US" b="true" i="false" strike="noStrike" u="none" sz="1200">
                          <a:solidFill>
                            <a:srgbClr val="FFFFFF"/>
                          </a:solidFill>
                          <a:latin typeface="IBM Plex Sans"/>
                          <a:ea typeface="IBM Plex Sans"/>
                          <a:cs typeface="IBM Plex Sans"/>
                          <a:sym typeface="IBM Plex Sans"/>
                        </a:rPr>
                        <a:t>Stage</a:t>
                      </a:r>
                      <a:endParaRPr lang="en-US" sz="1100"/>
                    </a:p>
                  </a:txBody>
                  <a:tcPr anchor="ctr" anchorCtr="false" marL="101600" marR="101600" marT="101600" marB="101600">
                    <a:lnL>
                      <a:noFill/>
                    </a:lnL>
                    <a:lnR>
                      <a:noFill/>
                    </a:lnR>
                    <a:lnT>
                      <a:noFill/>
                    </a:lnT>
                    <a:lnB>
                      <a:noFill/>
                    </a:lnB>
                    <a:solidFill>
                      <a:srgbClr val="1A1A2E">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IBM Plex Sans"/>
                          <a:ea typeface="IBM Plex Sans"/>
                          <a:cs typeface="IBM Plex Sans"/>
                          <a:sym typeface="IBM Plex Sans"/>
                        </a:rPr>
                        <a:t>Operation</a:t>
                      </a:r>
                      <a:endParaRPr lang="en-US" sz="1100"/>
                    </a:p>
                  </a:txBody>
                  <a:tcPr anchor="ctr" anchorCtr="false" marL="101600" marR="101600" marT="101600" marB="101600">
                    <a:lnL>
                      <a:noFill/>
                    </a:lnL>
                    <a:lnR>
                      <a:noFill/>
                    </a:lnR>
                    <a:lnT>
                      <a:noFill/>
                    </a:lnT>
                    <a:lnB>
                      <a:noFill/>
                    </a:lnB>
                    <a:solidFill>
                      <a:srgbClr val="1A1A2E">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IBM Plex Sans"/>
                          <a:ea typeface="IBM Plex Sans"/>
                          <a:cs typeface="IBM Plex Sans"/>
                          <a:sym typeface="IBM Plex Sans"/>
                        </a:rPr>
                        <a:t>Tensor Shape</a:t>
                      </a:r>
                      <a:endParaRPr lang="en-US" sz="1100"/>
                    </a:p>
                  </a:txBody>
                  <a:tcPr anchor="ctr" anchorCtr="false" marL="101600" marR="101600" marT="101600" marB="101600">
                    <a:lnL>
                      <a:noFill/>
                    </a:lnL>
                    <a:lnR>
                      <a:noFill/>
                    </a:lnR>
                    <a:lnT>
                      <a:noFill/>
                    </a:lnT>
                    <a:lnB>
                      <a:noFill/>
                    </a:lnB>
                    <a:solidFill>
                      <a:srgbClr val="1A1A2E">
                        <a:alpha val="100000"/>
                      </a:srgbClr>
                    </a:solidFill>
                  </a:tcPr>
                </a:tc>
              </a:tr>
              <a:tr h="609600">
                <a:tc>
                  <a:txBody>
                    <a:bodyPr anchor="t" rtlCol="false"/>
                    <a:lstStyle/>
                    <a:p>
                      <a:pPr algn="l" marL="0" indent="0">
                        <a:lnSpc>
                          <a:spcPct val="100000"/>
                        </a:lnSpc>
                        <a:defRPr/>
                      </a:pPr>
                      <a:r>
                        <a:rPr lang="en-US" b="true" i="false" strike="noStrike" u="none" sz="1200">
                          <a:solidFill>
                            <a:srgbClr val="1A1A2E"/>
                          </a:solidFill>
                          <a:latin typeface="IBM Plex Sans"/>
                          <a:ea typeface="IBM Plex Sans"/>
                          <a:cs typeface="IBM Plex Sans"/>
                          <a:sym typeface="IBM Plex Sans"/>
                        </a:rPr>
                        <a:t>Input</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464646"/>
                          </a:solidFill>
                          <a:latin typeface="IBM Plex Sans"/>
                          <a:ea typeface="IBM Plex Sans"/>
                          <a:cs typeface="IBM Plex Sans"/>
                          <a:sym typeface="IBM Plex Sans"/>
                        </a:rPr>
                        <a:t>Raw node features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200">
                          <a:solidFill>
                            <a:srgbClr val="2D6A4F"/>
                          </a:solidFill>
                          <a:latin typeface="IBM Plex Sans"/>
                          <a:ea typeface="IBM Plex Sans"/>
                          <a:cs typeface="IBM Plex Sans"/>
                          <a:sym typeface="IBM Plex Sans"/>
                        </a:rPr>
                        <a:t>(B, 1024, F_in, 48)</a:t>
                      </a:r>
                      <a:endParaRPr lang="en-US" sz="1100"/>
                    </a:p>
                  </a:txBody>
                  <a:tcPr anchor="ctr" anchorCtr="false" marL="101600" marR="101600" marT="101600" marB="101600">
                    <a:lnL>
                      <a:noFill/>
                    </a:lnL>
                    <a:lnR>
                      <a:noFill/>
                    </a:lnR>
                    <a:lnT>
                      <a:noFill/>
                    </a:lnT>
                    <a:lnB>
                      <a:noFill/>
                    </a:lnB>
                    <a:noFill/>
                  </a:tcPr>
                </a:tc>
              </a:tr>
              <a:tr h="609600">
                <a:tc>
                  <a:txBody>
                    <a:bodyPr anchor="t" rtlCol="false"/>
                    <a:lstStyle/>
                    <a:p>
                      <a:pPr algn="l" marL="0" indent="0">
                        <a:lnSpc>
                          <a:spcPct val="100000"/>
                        </a:lnSpc>
                        <a:defRPr/>
                      </a:pPr>
                      <a:r>
                        <a:rPr lang="en-US" b="true" i="false" strike="noStrike" u="none" sz="1200">
                          <a:solidFill>
                            <a:srgbClr val="1A1A2E"/>
                          </a:solidFill>
                          <a:latin typeface="IBM Plex Sans"/>
                          <a:ea typeface="IBM Plex Sans"/>
                          <a:cs typeface="IBM Plex Sans"/>
                          <a:sym typeface="IBM Plex Sans"/>
                        </a:rPr>
                        <a:t>Env Branch</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464646"/>
                          </a:solidFill>
                          <a:latin typeface="IBM Plex Sans"/>
                          <a:ea typeface="IBM Plex Sans"/>
                          <a:cs typeface="IBM Plex Sans"/>
                          <a:sym typeface="IBM Plex Sans"/>
                        </a:rPr>
                        <a:t>sum over nodes, proj, Transformer encoder</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200">
                          <a:solidFill>
                            <a:srgbClr val="2D6A4F"/>
                          </a:solidFill>
                          <a:latin typeface="IBM Plex Sans"/>
                          <a:ea typeface="IBM Plex Sans"/>
                          <a:cs typeface="IBM Plex Sans"/>
                          <a:sym typeface="IBM Plex Sans"/>
                        </a:rPr>
                        <a:t>(B, T, 64)</a:t>
                      </a:r>
                      <a:endParaRPr lang="en-US" sz="1100"/>
                    </a:p>
                  </a:txBody>
                  <a:tcPr anchor="ctr" anchorCtr="false" marL="101600" marR="101600" marT="101600" marB="101600">
                    <a:lnL>
                      <a:noFill/>
                    </a:lnL>
                    <a:lnR>
                      <a:noFill/>
                    </a:lnR>
                    <a:lnT>
                      <a:noFill/>
                    </a:lnT>
                    <a:lnB>
                      <a:noFill/>
                    </a:lnB>
                    <a:noFill/>
                  </a:tcPr>
                </a:tc>
              </a:tr>
              <a:tr h="609600">
                <a:tc>
                  <a:txBody>
                    <a:bodyPr anchor="t" rtlCol="false"/>
                    <a:lstStyle/>
                    <a:p>
                      <a:pPr algn="l" marL="0" indent="0">
                        <a:lnSpc>
                          <a:spcPct val="100000"/>
                        </a:lnSpc>
                        <a:defRPr/>
                      </a:pPr>
                      <a:r>
                        <a:rPr lang="en-US" b="true" i="false" strike="noStrike" u="none" sz="1200">
                          <a:solidFill>
                            <a:srgbClr val="1A1A2E"/>
                          </a:solidFill>
                          <a:latin typeface="IBM Plex Sans"/>
                          <a:ea typeface="IBM Plex Sans"/>
                          <a:cs typeface="IBM Plex Sans"/>
                          <a:sym typeface="IBM Plex Sans"/>
                        </a:rPr>
                        <a:t>Loc Branch</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464646"/>
                          </a:solidFill>
                          <a:latin typeface="IBM Plex Sans"/>
                          <a:ea typeface="IBM Plex Sans"/>
                          <a:cs typeface="IBM Plex Sans"/>
                          <a:sym typeface="IBM Plex Sans"/>
                        </a:rPr>
                        <a:t>per-node linear projection</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200">
                          <a:solidFill>
                            <a:srgbClr val="2D6A4F"/>
                          </a:solidFill>
                          <a:latin typeface="IBM Plex Sans"/>
                          <a:ea typeface="IBM Plex Sans"/>
                          <a:cs typeface="IBM Plex Sans"/>
                          <a:sym typeface="IBM Plex Sans"/>
                        </a:rPr>
                        <a:t>(BN, T, 64)</a:t>
                      </a:r>
                      <a:endParaRPr lang="en-US" sz="1100"/>
                    </a:p>
                  </a:txBody>
                  <a:tcPr anchor="ctr" anchorCtr="false" marL="101600" marR="101600" marT="101600" marB="101600">
                    <a:lnL>
                      <a:noFill/>
                    </a:lnL>
                    <a:lnR>
                      <a:noFill/>
                    </a:lnR>
                    <a:lnT>
                      <a:noFill/>
                    </a:lnT>
                    <a:lnB>
                      <a:noFill/>
                    </a:lnB>
                    <a:noFill/>
                  </a:tcPr>
                </a:tc>
              </a:tr>
              <a:tr h="609600">
                <a:tc>
                  <a:txBody>
                    <a:bodyPr anchor="t" rtlCol="false"/>
                    <a:lstStyle/>
                    <a:p>
                      <a:pPr algn="l" marL="0" indent="0">
                        <a:lnSpc>
                          <a:spcPct val="100000"/>
                        </a:lnSpc>
                        <a:defRPr/>
                      </a:pPr>
                      <a:r>
                        <a:rPr lang="en-US" b="true" i="false" strike="noStrike" u="none" sz="1200">
                          <a:solidFill>
                            <a:srgbClr val="1A1A2E"/>
                          </a:solidFill>
                          <a:latin typeface="IBM Plex Sans"/>
                          <a:ea typeface="IBM Plex Sans"/>
                          <a:cs typeface="IBM Plex Sans"/>
                          <a:sym typeface="IBM Plex Sans"/>
                        </a:rPr>
                        <a:t>Cross-Attention</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464646"/>
                          </a:solidFill>
                          <a:latin typeface="IBM Plex Sans"/>
                          <a:ea typeface="IBM Plex Sans"/>
                          <a:cs typeface="IBM Plex Sans"/>
                          <a:sym typeface="IBM Plex Sans"/>
                        </a:rPr>
                        <a:t>Loc queries attend to Env context</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200">
                          <a:solidFill>
                            <a:srgbClr val="2D6A4F"/>
                          </a:solidFill>
                          <a:latin typeface="IBM Plex Sans"/>
                          <a:ea typeface="IBM Plex Sans"/>
                          <a:cs typeface="IBM Plex Sans"/>
                          <a:sym typeface="IBM Plex Sans"/>
                        </a:rPr>
                        <a:t>(BN, T, 64)</a:t>
                      </a:r>
                      <a:endParaRPr lang="en-US" sz="1100"/>
                    </a:p>
                  </a:txBody>
                  <a:tcPr anchor="ctr" anchorCtr="false" marL="101600" marR="101600" marT="101600" marB="101600">
                    <a:lnL>
                      <a:noFill/>
                    </a:lnL>
                    <a:lnR>
                      <a:noFill/>
                    </a:lnR>
                    <a:lnT>
                      <a:noFill/>
                    </a:lnT>
                    <a:lnB>
                      <a:noFill/>
                    </a:lnB>
                    <a:noFill/>
                  </a:tcPr>
                </a:tc>
              </a:tr>
              <a:tr h="609600">
                <a:tc>
                  <a:txBody>
                    <a:bodyPr anchor="t" rtlCol="false"/>
                    <a:lstStyle/>
                    <a:p>
                      <a:pPr algn="l" marL="0" indent="0">
                        <a:lnSpc>
                          <a:spcPct val="100000"/>
                        </a:lnSpc>
                        <a:defRPr/>
                      </a:pPr>
                      <a:r>
                        <a:rPr lang="en-US" b="true" i="false" strike="noStrike" u="none" sz="1200">
                          <a:solidFill>
                            <a:srgbClr val="1A1A2E"/>
                          </a:solidFill>
                          <a:latin typeface="IBM Plex Sans"/>
                          <a:ea typeface="IBM Plex Sans"/>
                          <a:cs typeface="IBM Plex Sans"/>
                          <a:sym typeface="IBM Plex Sans"/>
                        </a:rPr>
                        <a:t>Conv1d + Pool</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464646"/>
                          </a:solidFill>
                          <a:latin typeface="IBM Plex Sans"/>
                          <a:ea typeface="IBM Plex Sans"/>
                          <a:cs typeface="IBM Plex Sans"/>
                          <a:sym typeface="IBM Plex Sans"/>
                        </a:rPr>
                        <a:t>Temporal conv, take last timestep</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200">
                          <a:solidFill>
                            <a:srgbClr val="2D6A4F"/>
                          </a:solidFill>
                          <a:latin typeface="IBM Plex Sans"/>
                          <a:ea typeface="IBM Plex Sans"/>
                          <a:cs typeface="IBM Plex Sans"/>
                          <a:sym typeface="IBM Plex Sans"/>
                        </a:rPr>
                        <a:t>(B, N, 64)</a:t>
                      </a:r>
                      <a:endParaRPr lang="en-US" sz="1100"/>
                    </a:p>
                  </a:txBody>
                  <a:tcPr anchor="ctr" anchorCtr="false" marL="101600" marR="101600" marT="101600" marB="101600">
                    <a:lnL>
                      <a:noFill/>
                    </a:lnL>
                    <a:lnR>
                      <a:noFill/>
                    </a:lnR>
                    <a:lnT>
                      <a:noFill/>
                    </a:lnT>
                    <a:lnB>
                      <a:noFill/>
                    </a:lnB>
                    <a:noFill/>
                  </a:tcPr>
                </a:tc>
              </a:tr>
              <a:tr h="609600">
                <a:tc>
                  <a:txBody>
                    <a:bodyPr anchor="t" rtlCol="false"/>
                    <a:lstStyle/>
                    <a:p>
                      <a:pPr algn="l" marL="0" indent="0">
                        <a:lnSpc>
                          <a:spcPct val="100000"/>
                        </a:lnSpc>
                        <a:defRPr/>
                      </a:pPr>
                      <a:r>
                        <a:rPr lang="en-US" b="true" i="false" strike="noStrike" u="none" sz="1200">
                          <a:solidFill>
                            <a:srgbClr val="2D6A4F"/>
                          </a:solidFill>
                          <a:latin typeface="IBM Plex Sans"/>
                          <a:ea typeface="IBM Plex Sans"/>
                          <a:cs typeface="IBM Plex Sans"/>
                          <a:sym typeface="IBM Plex Sans"/>
                        </a:rPr>
                        <a:t>MLP Decoder</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464646"/>
                          </a:solidFill>
                          <a:latin typeface="IBM Plex Sans"/>
                          <a:ea typeface="IBM Plex Sans"/>
                          <a:cs typeface="IBM Plex Sans"/>
                          <a:sym typeface="IBM Plex Sans"/>
                        </a:rPr>
                        <a:t>Per-node horizon regression</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200">
                          <a:solidFill>
                            <a:srgbClr val="2D6A4F"/>
                          </a:solidFill>
                          <a:latin typeface="IBM Plex Sans"/>
                          <a:ea typeface="IBM Plex Sans"/>
                          <a:cs typeface="IBM Plex Sans"/>
                          <a:sym typeface="IBM Plex Sans"/>
                        </a:rPr>
                        <a:t>(B, N, 48)</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6" id="6"/>
          <p:cNvSpPr txBox="true"/>
          <p:nvPr/>
        </p:nvSpPr>
        <p:spPr>
          <a:xfrm rot="0" flipH="false" flipV="false">
            <a:off x="1016000" y="63500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28282"/>
                </a:solidFill>
                <a:latin typeface="IBM Plex Sans"/>
                <a:ea typeface="IBM Plex Sans"/>
                <a:cs typeface="IBM Plex Sans"/>
                <a:sym typeface="IBM Plex Sans"/>
              </a:rPr>
              <a:t>B = batch size · N = 1024 grid nodes · T = 48 input steps · horizon = 48 prediction steps</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2D6A4F"/>
                </a:solidFill>
                <a:latin typeface="IBM Plex Sans"/>
                <a:ea typeface="IBM Plex Sans"/>
                <a:cs typeface="IBM Plex Sans"/>
                <a:sym typeface="IBM Plex Sans"/>
              </a:rPr>
              <a:t>04 · ANOMALY DETECTION</a:t>
            </a:r>
            <a:endParaRPr lang="en-US" sz="1100"/>
          </a:p>
        </p:txBody>
      </p:sp>
      <p:sp>
        <p:nvSpPr>
          <p:cNvPr name="AutoShape 3" id="3"/>
          <p:cNvSpPr txBox="true"/>
          <p:nvPr/>
        </p:nvSpPr>
        <p:spPr>
          <a:xfrm rot="0" flipH="false" flipV="false">
            <a:off x="1016000" y="10160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A1A2E"/>
                </a:solidFill>
                <a:latin typeface="IBM Plex Sans"/>
                <a:ea typeface="IBM Plex Sans"/>
                <a:cs typeface="IBM Plex Sans"/>
                <a:sym typeface="IBM Plex Sans"/>
              </a:rPr>
              <a:t>Three anomaly scores fused at 9:1</a:t>
            </a:r>
            <a:endParaRPr lang="en-US" sz="1100"/>
          </a:p>
        </p:txBody>
      </p:sp>
      <p:cxnSp>
        <p:nvCxnSpPr>
          <p:cNvPr name="Connector 4" id="4"/>
          <p:cNvCxnSpPr/>
          <p:nvPr/>
        </p:nvCxnSpPr>
        <p:spPr>
          <a:xfrm rot="-4297" flipH="false" flipV="false">
            <a:off x="1016004" y="1771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5" id="5"/>
          <p:cNvSpPr txBox="true"/>
          <p:nvPr/>
        </p:nvSpPr>
        <p:spPr>
          <a:xfrm rot="0" flipH="false" flipV="false">
            <a:off x="1016000" y="2095500"/>
            <a:ext cx="304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6A4F"/>
                </a:solidFill>
                <a:latin typeface="IBM Plex Sans"/>
                <a:ea typeface="IBM Plex Sans"/>
                <a:cs typeface="IBM Plex Sans"/>
                <a:sym typeface="IBM Plex Sans"/>
              </a:rPr>
              <a:t>Statistical Threshold</a:t>
            </a:r>
            <a:endParaRPr lang="en-US" sz="1100"/>
          </a:p>
        </p:txBody>
      </p:sp>
      <p:sp>
        <p:nvSpPr>
          <p:cNvPr name="AutoShape 6" id="6"/>
          <p:cNvSpPr txBox="true"/>
          <p:nvPr/>
        </p:nvSpPr>
        <p:spPr>
          <a:xfrm rot="0" flipH="false" flipV="false">
            <a:off x="1016000" y="25146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64646"/>
                </a:solidFill>
                <a:latin typeface="IBM Plex Sans"/>
                <a:ea typeface="IBM Plex Sans"/>
                <a:cs typeface="IBM Plex Sans"/>
                <a:sym typeface="IBM Plex Sans"/>
              </a:rPr>
              <a:t>Time-segmented z-score over historical windows. Flags local outliers within each hour / day-part.</a:t>
            </a:r>
            <a:endParaRPr lang="en-US" sz="1100"/>
          </a:p>
        </p:txBody>
      </p:sp>
      <p:sp>
        <p:nvSpPr>
          <p:cNvPr name="AutoShape 7" id="7"/>
          <p:cNvSpPr txBox="true"/>
          <p:nvPr/>
        </p:nvSpPr>
        <p:spPr>
          <a:xfrm rot="0" flipH="false" flipV="false">
            <a:off x="4572000" y="2095500"/>
            <a:ext cx="304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6A4F"/>
                </a:solidFill>
                <a:latin typeface="IBM Plex Sans"/>
                <a:ea typeface="IBM Plex Sans"/>
                <a:cs typeface="IBM Plex Sans"/>
                <a:sym typeface="IBM Plex Sans"/>
              </a:rPr>
              <a:t>Prediction Residual</a:t>
            </a:r>
            <a:endParaRPr lang="en-US" sz="1100"/>
          </a:p>
        </p:txBody>
      </p:sp>
      <p:sp>
        <p:nvSpPr>
          <p:cNvPr name="AutoShape 8" id="8"/>
          <p:cNvSpPr txBox="true"/>
          <p:nvPr/>
        </p:nvSpPr>
        <p:spPr>
          <a:xfrm rot="0" flipH="false" flipV="false">
            <a:off x="4572000" y="25146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64646"/>
                </a:solidFill>
                <a:latin typeface="IBM Plex Sans"/>
                <a:ea typeface="IBM Plex Sans"/>
                <a:cs typeface="IBM Plex Sans"/>
                <a:sym typeface="IBM Plex Sans"/>
              </a:rPr>
              <a:t>|actual - STF forecast|. Focuses on global, sustained, large-scale anomalies; local spikes contribute little.</a:t>
            </a:r>
            <a:endParaRPr lang="en-US" sz="1100"/>
          </a:p>
        </p:txBody>
      </p:sp>
      <p:sp>
        <p:nvSpPr>
          <p:cNvPr name="AutoShape 9" id="9"/>
          <p:cNvSpPr txBox="true"/>
          <p:nvPr/>
        </p:nvSpPr>
        <p:spPr>
          <a:xfrm rot="0" flipH="false" flipV="false">
            <a:off x="8128000" y="2095500"/>
            <a:ext cx="304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6A4F"/>
                </a:solidFill>
                <a:latin typeface="IBM Plex Sans"/>
                <a:ea typeface="IBM Plex Sans"/>
                <a:cs typeface="IBM Plex Sans"/>
                <a:sym typeface="IBM Plex Sans"/>
              </a:rPr>
              <a:t>Reconstruction Error</a:t>
            </a:r>
            <a:endParaRPr lang="en-US" sz="1100"/>
          </a:p>
        </p:txBody>
      </p:sp>
      <p:sp>
        <p:nvSpPr>
          <p:cNvPr name="AutoShape 10" id="10"/>
          <p:cNvSpPr txBox="true"/>
          <p:nvPr/>
        </p:nvSpPr>
        <p:spPr>
          <a:xfrm rot="0" flipH="false" flipV="false">
            <a:off x="8128000" y="25146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64646"/>
                </a:solidFill>
                <a:latin typeface="IBM Plex Sans"/>
                <a:ea typeface="IBM Plex Sans"/>
                <a:cs typeface="IBM Plex Sans"/>
                <a:sym typeface="IBM Plex Sans"/>
              </a:rPr>
              <a:t>Autoencoder reconstruction residual. Complements residual by capturing atypical manifold structure.</a:t>
            </a:r>
            <a:endParaRPr lang="en-US" sz="1100"/>
          </a:p>
        </p:txBody>
      </p:sp>
      <p:cxnSp>
        <p:nvCxnSpPr>
          <p:cNvPr name="Connector 11" id="11"/>
          <p:cNvCxnSpPr/>
          <p:nvPr/>
        </p:nvCxnSpPr>
        <p:spPr>
          <a:xfrm rot="-4297" flipH="false" flipV="false">
            <a:off x="1016004" y="4184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12" id="12"/>
          <p:cNvSpPr txBox="true"/>
          <p:nvPr/>
        </p:nvSpPr>
        <p:spPr>
          <a:xfrm rot="0" flipH="false" flipV="false">
            <a:off x="1016000" y="44450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Fusion: weighted score = 0.9 × Residual + 0.1 × Reconstruction</a:t>
            </a:r>
            <a:endParaRPr lang="en-US" sz="1100"/>
          </a:p>
        </p:txBody>
      </p:sp>
      <p:sp>
        <p:nvSpPr>
          <p:cNvPr name="AutoShape 13" id="13"/>
          <p:cNvSpPr txBox="true"/>
          <p:nvPr/>
        </p:nvSpPr>
        <p:spPr>
          <a:xfrm rot="0" flipH="false" flipV="false">
            <a:off x="1016000" y="50165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300">
                <a:solidFill>
                  <a:srgbClr val="2D6A4F"/>
                </a:solidFill>
                <a:latin typeface="IBM Plex Sans"/>
                <a:ea typeface="IBM Plex Sans"/>
                <a:cs typeface="IBM Plex Sans"/>
                <a:sym typeface="IBM Plex Sans"/>
              </a:rPr>
              <a:t>Known limitation:</a:t>
            </a:r>
            <a:r>
              <a:rPr lang="en-US" b="false" i="false" strike="noStrike" u="none" sz="1300">
                <a:solidFill>
                  <a:srgbClr val="464646"/>
                </a:solidFill>
                <a:latin typeface="IBM Plex Sans"/>
                <a:ea typeface="IBM Plex Sans"/>
                <a:cs typeface="IBM Plex Sans"/>
                <a:sym typeface="IBM Plex Sans"/>
              </a:rPr>
              <a:t> anomalies are evaluated on manually injected spikes. The baseline accuracy is sub-optimal because multiple control groups are insufficient — future work will add more anomaly types and comparison baselines.</a:t>
            </a:r>
            <a:endParaRPr lang="en-US" sz="1100"/>
          </a:p>
        </p:txBody>
      </p:sp>
      <p:sp>
        <p:nvSpPr>
          <p:cNvPr name="AutoShape 14" id="14"/>
          <p:cNvSpPr txBox="true"/>
          <p:nvPr/>
        </p:nvSpPr>
        <p:spPr>
          <a:xfrm rot="0" flipH="false" flipV="false">
            <a:off x="1016000" y="6350000"/>
            <a:ext cx="1016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A0A0A0"/>
                </a:solidFill>
                <a:latin typeface="IBM Plex Sans"/>
                <a:ea typeface="IBM Plex Sans"/>
                <a:cs typeface="IBM Plex Sans"/>
                <a:sym typeface="IBM Plex Sans"/>
              </a:rPr>
              <a:t>Evaluation protocol: injected anomalies on BJ-Taxi test split</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2D6A4F"/>
                </a:solidFill>
                <a:latin typeface="IBM Plex Sans"/>
                <a:ea typeface="IBM Plex Sans"/>
                <a:cs typeface="IBM Plex Sans"/>
                <a:sym typeface="IBM Plex Sans"/>
              </a:rPr>
              <a:t>05 · DEPLOYMENT &amp; TOOLCHAIN</a:t>
            </a:r>
            <a:endParaRPr lang="en-US" sz="1100"/>
          </a:p>
        </p:txBody>
      </p:sp>
      <p:sp>
        <p:nvSpPr>
          <p:cNvPr name="AutoShape 3" id="3"/>
          <p:cNvSpPr txBox="true"/>
          <p:nvPr/>
        </p:nvSpPr>
        <p:spPr>
          <a:xfrm rot="0" flipH="false" flipV="false">
            <a:off x="1016000" y="10160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A1A2E"/>
                </a:solidFill>
                <a:latin typeface="IBM Plex Sans"/>
                <a:ea typeface="IBM Plex Sans"/>
                <a:cs typeface="IBM Plex Sans"/>
                <a:sym typeface="IBM Plex Sans"/>
              </a:rPr>
              <a:t>Serving stack and analysis tools</a:t>
            </a:r>
            <a:endParaRPr lang="en-US" sz="1100"/>
          </a:p>
        </p:txBody>
      </p:sp>
      <p:cxnSp>
        <p:nvCxnSpPr>
          <p:cNvPr name="Connector 4" id="4"/>
          <p:cNvCxnSpPr/>
          <p:nvPr/>
        </p:nvCxnSpPr>
        <p:spPr>
          <a:xfrm rot="-4297" flipH="false" flipV="false">
            <a:off x="1016004" y="1771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5" id="5"/>
          <p:cNvSpPr txBox="true"/>
          <p:nvPr/>
        </p:nvSpPr>
        <p:spPr>
          <a:xfrm rot="0" flipH="false" flipV="false">
            <a:off x="1016000" y="21590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6A4F"/>
                </a:solidFill>
                <a:latin typeface="IBM Plex Sans"/>
                <a:ea typeface="IBM Plex Sans"/>
                <a:cs typeface="IBM Plex Sans"/>
                <a:sym typeface="IBM Plex Sans"/>
              </a:rPr>
              <a:t>Serving Architecture</a:t>
            </a:r>
            <a:endParaRPr lang="en-US" sz="1100"/>
          </a:p>
        </p:txBody>
      </p:sp>
      <p:sp>
        <p:nvSpPr>
          <p:cNvPr name="AutoShape 6" id="6"/>
          <p:cNvSpPr txBox="true"/>
          <p:nvPr/>
        </p:nvSpPr>
        <p:spPr>
          <a:xfrm rot="0" flipH="false" flipV="false">
            <a:off x="1016000" y="2603500"/>
            <a:ext cx="4826000" cy="1524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41666"/>
              </a:lnSpc>
              <a:buClr>
                <a:srgbClr val="464646"/>
              </a:buClr>
              <a:buChar char="•"/>
              <a:defRPr/>
            </a:pPr>
            <a:r>
              <a:rPr lang="en-US" b="true" i="false" strike="noStrike" u="none" sz="1400">
                <a:solidFill>
                  <a:srgbClr val="464646"/>
                </a:solidFill>
                <a:latin typeface="IBM Plex Sans"/>
                <a:ea typeface="IBM Plex Sans"/>
                <a:cs typeface="IBM Plex Sans"/>
                <a:sym typeface="IBM Plex Sans"/>
              </a:rPr>
              <a:t>FastAPI</a:t>
            </a:r>
            <a:r>
              <a:rPr lang="en-US" b="false" i="false" strike="noStrike" u="none" sz="1400">
                <a:solidFill>
                  <a:srgbClr val="464646"/>
                </a:solidFill>
                <a:latin typeface="IBM Plex Sans"/>
                <a:ea typeface="IBM Plex Sans"/>
                <a:cs typeface="IBM Plex Sans"/>
                <a:sym typeface="IBM Plex Sans"/>
              </a:rPr>
              <a:t> — backend inference service, exposes forecast and anomaly-score endpoints</a:t>
            </a:r>
            <a:endParaRPr lang="en-US" sz="1100"/>
          </a:p>
          <a:p>
            <a:pPr algn="l" indent="-177800" marL="177800">
              <a:lnSpc>
                <a:spcPct val="141666"/>
              </a:lnSpc>
              <a:buClr>
                <a:srgbClr val="464646"/>
              </a:buClr>
              <a:buChar char="•"/>
            </a:pPr>
            <a:r>
              <a:rPr lang="en-US" b="true" i="false" strike="noStrike" u="none" sz="1400">
                <a:solidFill>
                  <a:srgbClr val="464646"/>
                </a:solidFill>
                <a:latin typeface="IBM Plex Sans"/>
                <a:ea typeface="IBM Plex Sans"/>
                <a:cs typeface="IBM Plex Sans"/>
                <a:sym typeface="IBM Plex Sans"/>
              </a:rPr>
              <a:t>Streamlit</a:t>
            </a:r>
            <a:r>
              <a:rPr lang="en-US" b="false" i="false" strike="noStrike" u="none" sz="1400">
                <a:solidFill>
                  <a:srgbClr val="464646"/>
                </a:solidFill>
                <a:latin typeface="IBM Plex Sans"/>
                <a:ea typeface="IBM Plex Sans"/>
                <a:cs typeface="IBM Plex Sans"/>
                <a:sym typeface="IBM Plex Sans"/>
              </a:rPr>
              <a:t> — frontend visualization dashboard for real-time flow map and anomaly alerts</a:t>
            </a:r>
          </a:p>
        </p:txBody>
      </p:sp>
      <p:sp>
        <p:nvSpPr>
          <p:cNvPr name="AutoShape 7" id="7"/>
          <p:cNvSpPr txBox="true"/>
          <p:nvPr/>
        </p:nvSpPr>
        <p:spPr>
          <a:xfrm rot="0" flipH="false" flipV="false">
            <a:off x="6350000" y="21590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6A4F"/>
                </a:solidFill>
                <a:latin typeface="IBM Plex Sans"/>
                <a:ea typeface="IBM Plex Sans"/>
                <a:cs typeface="IBM Plex Sans"/>
                <a:sym typeface="IBM Plex Sans"/>
              </a:rPr>
              <a:t>Analysis &amp; Optimization Tools</a:t>
            </a:r>
            <a:endParaRPr lang="en-US" sz="1100"/>
          </a:p>
        </p:txBody>
      </p:sp>
      <p:sp>
        <p:nvSpPr>
          <p:cNvPr name="AutoShape 8" id="8"/>
          <p:cNvSpPr txBox="true"/>
          <p:nvPr/>
        </p:nvSpPr>
        <p:spPr>
          <a:xfrm rot="0" flipH="false" flipV="false">
            <a:off x="6350000" y="2603500"/>
            <a:ext cx="4826000" cy="228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41666"/>
              </a:lnSpc>
              <a:buClr>
                <a:srgbClr val="464646"/>
              </a:buClr>
              <a:buChar char="•"/>
              <a:defRPr/>
            </a:pPr>
            <a:r>
              <a:rPr lang="en-US" b="true" i="false" strike="noStrike" u="none" sz="1400">
                <a:solidFill>
                  <a:srgbClr val="464646"/>
                </a:solidFill>
                <a:latin typeface="IBM Plex Sans"/>
                <a:ea typeface="IBM Plex Sans"/>
                <a:cs typeface="IBM Plex Sans"/>
                <a:sym typeface="IBM Plex Sans"/>
              </a:rPr>
              <a:t>Optuna</a:t>
            </a:r>
            <a:r>
              <a:rPr lang="en-US" b="false" i="false" strike="noStrike" u="none" sz="1400">
                <a:solidFill>
                  <a:srgbClr val="464646"/>
                </a:solidFill>
                <a:latin typeface="IBM Plex Sans"/>
                <a:ea typeface="IBM Plex Sans"/>
                <a:cs typeface="IBM Plex Sans"/>
                <a:sym typeface="IBM Plex Sans"/>
              </a:rPr>
              <a:t> — hyperparameter search for learning rate, dropout, attention dims</a:t>
            </a:r>
            <a:endParaRPr lang="en-US" sz="1100"/>
          </a:p>
          <a:p>
            <a:pPr algn="l" indent="-177800" marL="177800">
              <a:lnSpc>
                <a:spcPct val="141666"/>
              </a:lnSpc>
              <a:buClr>
                <a:srgbClr val="464646"/>
              </a:buClr>
              <a:buChar char="•"/>
            </a:pPr>
            <a:r>
              <a:rPr lang="en-US" b="true" i="false" strike="noStrike" u="none" sz="1400">
                <a:solidFill>
                  <a:srgbClr val="464646"/>
                </a:solidFill>
                <a:latin typeface="IBM Plex Sans"/>
                <a:ea typeface="IBM Plex Sans"/>
                <a:cs typeface="IBM Plex Sans"/>
                <a:sym typeface="IBM Plex Sans"/>
              </a:rPr>
              <a:t>SHAP</a:t>
            </a:r>
            <a:r>
              <a:rPr lang="en-US" b="false" i="false" strike="noStrike" u="none" sz="1400">
                <a:solidFill>
                  <a:srgbClr val="464646"/>
                </a:solidFill>
                <a:latin typeface="IBM Plex Sans"/>
                <a:ea typeface="IBM Plex Sans"/>
                <a:cs typeface="IBM Plex Sans"/>
                <a:sym typeface="IBM Plex Sans"/>
              </a:rPr>
              <a:t> — model interpretability, feature-level anomaly attribution</a:t>
            </a:r>
          </a:p>
          <a:p>
            <a:pPr algn="l" indent="-177800" marL="177800">
              <a:lnSpc>
                <a:spcPct val="141666"/>
              </a:lnSpc>
              <a:buClr>
                <a:srgbClr val="464646"/>
              </a:buClr>
              <a:buChar char="•"/>
            </a:pPr>
            <a:r>
              <a:rPr lang="en-US" b="true" i="false" strike="noStrike" u="none" sz="1400">
                <a:solidFill>
                  <a:srgbClr val="464646"/>
                </a:solidFill>
                <a:latin typeface="IBM Plex Sans"/>
                <a:ea typeface="IBM Plex Sans"/>
                <a:cs typeface="IBM Plex Sans"/>
                <a:sym typeface="IBM Plex Sans"/>
              </a:rPr>
              <a:t>Attention hooks</a:t>
            </a:r>
            <a:r>
              <a:rPr lang="en-US" b="false" i="false" strike="noStrike" u="none" sz="1400">
                <a:solidFill>
                  <a:srgbClr val="464646"/>
                </a:solidFill>
                <a:latin typeface="IBM Plex Sans"/>
                <a:ea typeface="IBM Plex Sans"/>
                <a:cs typeface="IBM Plex Sans"/>
                <a:sym typeface="IBM Plex Sans"/>
              </a:rPr>
              <a:t> — extract average attention distribution across heads on the validation set</a:t>
            </a:r>
          </a:p>
        </p:txBody>
      </p:sp>
      <p:cxnSp>
        <p:nvCxnSpPr>
          <p:cNvPr name="Connector 9" id="9"/>
          <p:cNvCxnSpPr/>
          <p:nvPr/>
        </p:nvCxnSpPr>
        <p:spPr>
          <a:xfrm rot="-4297" flipH="false" flipV="false">
            <a:off x="1016004" y="5454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10" id="10"/>
          <p:cNvSpPr txBox="true"/>
          <p:nvPr/>
        </p:nvSpPr>
        <p:spPr>
          <a:xfrm rot="0" flipH="false" flipV="false">
            <a:off x="1016000" y="56896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64646"/>
                </a:solidFill>
                <a:latin typeface="IBM Plex Sans"/>
                <a:ea typeface="IBM Plex Sans"/>
                <a:cs typeface="IBM Plex Sans"/>
                <a:sym typeface="IBM Plex Sans"/>
              </a:rPr>
              <a:t>The attention-hook analysis reveals which spatial regions the model relies on during anomaly scoring, complementing SHAP's feature-level explanations and providing a qualitative check on whether the fused Env-Loc attention is meaningful.</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5F4F0">
            <a:alpha val="100000"/>
          </a:srgbClr>
        </a:solidFill>
      </p:bgPr>
    </p:bg>
    <p:spTree>
      <p:nvGrpSpPr>
        <p:cNvPr id="1" name=""/>
        <p:cNvGrpSpPr/>
        <p:nvPr/>
      </p:nvGrpSpPr>
      <p:grpSpPr>
        <a:xfrm>
          <a:off x="0" y="0"/>
          <a:ext cx="0" cy="0"/>
          <a:chOff x="0" y="0"/>
          <a:chExt cx="0" cy="0"/>
        </a:xfrm>
      </p:grpSpPr>
      <p:sp>
        <p:nvSpPr>
          <p:cNvPr name="AutoShape 2" id="2"/>
          <p:cNvSpPr txBox="true"/>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2D6A4F"/>
                </a:solidFill>
                <a:latin typeface="IBM Plex Sans"/>
                <a:ea typeface="IBM Plex Sans"/>
                <a:cs typeface="IBM Plex Sans"/>
                <a:sym typeface="IBM Plex Sans"/>
              </a:rPr>
              <a:t>06 · SUMMARY</a:t>
            </a:r>
            <a:endParaRPr lang="en-US" sz="1100"/>
          </a:p>
        </p:txBody>
      </p:sp>
      <p:sp>
        <p:nvSpPr>
          <p:cNvPr name="AutoShape 3" id="3"/>
          <p:cNvSpPr txBox="true"/>
          <p:nvPr/>
        </p:nvSpPr>
        <p:spPr>
          <a:xfrm rot="0" flipH="false" flipV="false">
            <a:off x="1016000" y="10160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A1A2E"/>
                </a:solidFill>
                <a:latin typeface="IBM Plex Sans"/>
                <a:ea typeface="IBM Plex Sans"/>
                <a:cs typeface="IBM Plex Sans"/>
                <a:sym typeface="IBM Plex Sans"/>
              </a:rPr>
              <a:t>Key contributions and next steps</a:t>
            </a:r>
            <a:endParaRPr lang="en-US" sz="1100"/>
          </a:p>
        </p:txBody>
      </p:sp>
      <p:cxnSp>
        <p:nvCxnSpPr>
          <p:cNvPr name="Connector 4" id="4"/>
          <p:cNvCxnSpPr/>
          <p:nvPr/>
        </p:nvCxnSpPr>
        <p:spPr>
          <a:xfrm rot="-4297" flipH="false" flipV="false">
            <a:off x="1016004" y="17716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5" id="5"/>
          <p:cNvSpPr txBox="true"/>
          <p:nvPr/>
        </p:nvSpPr>
        <p:spPr>
          <a:xfrm rot="0" flipH="false" flipV="false">
            <a:off x="1016000" y="21590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D6A4F"/>
                </a:solidFill>
                <a:latin typeface="IBM Plex Sans"/>
                <a:ea typeface="IBM Plex Sans"/>
                <a:cs typeface="IBM Plex Sans"/>
                <a:sym typeface="IBM Plex Sans"/>
              </a:rPr>
              <a:t>01</a:t>
            </a:r>
            <a:endParaRPr lang="en-US" sz="1100"/>
          </a:p>
        </p:txBody>
      </p:sp>
      <p:sp>
        <p:nvSpPr>
          <p:cNvPr name="AutoShape 6" id="6"/>
          <p:cNvSpPr txBox="true"/>
          <p:nvPr/>
        </p:nvSpPr>
        <p:spPr>
          <a:xfrm rot="0" flipH="false" flipV="false">
            <a:off x="1778000" y="2184400"/>
            <a:ext cx="939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Lightweight STF beats AGFormer on BJ-Taxi with fewer parameters</a:t>
            </a:r>
            <a:endParaRPr lang="en-US" sz="1100"/>
          </a:p>
        </p:txBody>
      </p:sp>
      <p:sp>
        <p:nvSpPr>
          <p:cNvPr name="AutoShape 7" id="7"/>
          <p:cNvSpPr txBox="true"/>
          <p:nvPr/>
        </p:nvSpPr>
        <p:spPr>
          <a:xfrm rot="0" flipH="false" flipV="false">
            <a:off x="1778000" y="2565400"/>
            <a:ext cx="939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646464"/>
                </a:solidFill>
                <a:latin typeface="IBM Plex Sans"/>
                <a:ea typeface="IBM Plex Sans"/>
                <a:cs typeface="IBM Plex Sans"/>
                <a:sym typeface="IBM Plex Sans"/>
              </a:rPr>
              <a:t>Dual-branch Env/Loc factorization + single cross-attention avoids full pairwise self-attention cost.</a:t>
            </a:r>
            <a:endParaRPr lang="en-US" sz="1100"/>
          </a:p>
        </p:txBody>
      </p:sp>
      <p:sp>
        <p:nvSpPr>
          <p:cNvPr name="AutoShape 8" id="8"/>
          <p:cNvSpPr txBox="true"/>
          <p:nvPr/>
        </p:nvSpPr>
        <p:spPr>
          <a:xfrm rot="0" flipH="false" flipV="false">
            <a:off x="1016000" y="31750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D6A4F"/>
                </a:solidFill>
                <a:latin typeface="IBM Plex Sans"/>
                <a:ea typeface="IBM Plex Sans"/>
                <a:cs typeface="IBM Plex Sans"/>
                <a:sym typeface="IBM Plex Sans"/>
              </a:rPr>
              <a:t>02</a:t>
            </a:r>
            <a:endParaRPr lang="en-US" sz="1100"/>
          </a:p>
        </p:txBody>
      </p:sp>
      <p:sp>
        <p:nvSpPr>
          <p:cNvPr name="AutoShape 9" id="9"/>
          <p:cNvSpPr txBox="true"/>
          <p:nvPr/>
        </p:nvSpPr>
        <p:spPr>
          <a:xfrm rot="0" flipH="false" flipV="false">
            <a:off x="1778000" y="3200400"/>
            <a:ext cx="939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Fused anomaly scoring combines prediction residual and reconstruction</a:t>
            </a:r>
            <a:endParaRPr lang="en-US" sz="1100"/>
          </a:p>
        </p:txBody>
      </p:sp>
      <p:sp>
        <p:nvSpPr>
          <p:cNvPr name="AutoShape 10" id="10"/>
          <p:cNvSpPr txBox="true"/>
          <p:nvPr/>
        </p:nvSpPr>
        <p:spPr>
          <a:xfrm rot="0" flipH="false" flipV="false">
            <a:off x="1778000" y="3581400"/>
            <a:ext cx="939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646464"/>
                </a:solidFill>
                <a:latin typeface="IBM Plex Sans"/>
                <a:ea typeface="IBM Plex Sans"/>
                <a:cs typeface="IBM Plex Sans"/>
                <a:sym typeface="IBM Plex Sans"/>
              </a:rPr>
              <a:t>Weighted 9:1 fusion captures both sustained large-scale anomalies and atypical manifold deviations.</a:t>
            </a:r>
            <a:endParaRPr lang="en-US" sz="1100"/>
          </a:p>
        </p:txBody>
      </p:sp>
      <p:sp>
        <p:nvSpPr>
          <p:cNvPr name="AutoShape 11" id="11"/>
          <p:cNvSpPr txBox="true"/>
          <p:nvPr/>
        </p:nvSpPr>
        <p:spPr>
          <a:xfrm rot="0" flipH="false" flipV="false">
            <a:off x="1016000" y="41910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D6A4F"/>
                </a:solidFill>
                <a:latin typeface="IBM Plex Sans"/>
                <a:ea typeface="IBM Plex Sans"/>
                <a:cs typeface="IBM Plex Sans"/>
                <a:sym typeface="IBM Plex Sans"/>
              </a:rPr>
              <a:t>03</a:t>
            </a:r>
            <a:endParaRPr lang="en-US" sz="1100"/>
          </a:p>
        </p:txBody>
      </p:sp>
      <p:sp>
        <p:nvSpPr>
          <p:cNvPr name="AutoShape 12" id="12"/>
          <p:cNvSpPr txBox="true"/>
          <p:nvPr/>
        </p:nvSpPr>
        <p:spPr>
          <a:xfrm rot="0" flipH="false" flipV="false">
            <a:off x="1778000" y="4216400"/>
            <a:ext cx="939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A1A2E"/>
                </a:solidFill>
                <a:latin typeface="IBM Plex Sans"/>
                <a:ea typeface="IBM Plex Sans"/>
                <a:cs typeface="IBM Plex Sans"/>
                <a:sym typeface="IBM Plex Sans"/>
              </a:rPr>
              <a:t>End-to-end pipeline from data to deployment</a:t>
            </a:r>
            <a:endParaRPr lang="en-US" sz="1100"/>
          </a:p>
        </p:txBody>
      </p:sp>
      <p:sp>
        <p:nvSpPr>
          <p:cNvPr name="AutoShape 13" id="13"/>
          <p:cNvSpPr txBox="true"/>
          <p:nvPr/>
        </p:nvSpPr>
        <p:spPr>
          <a:xfrm rot="0" flipH="false" flipV="false">
            <a:off x="1778000" y="4597400"/>
            <a:ext cx="939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646464"/>
                </a:solidFill>
                <a:latin typeface="IBM Plex Sans"/>
                <a:ea typeface="IBM Plex Sans"/>
                <a:cs typeface="IBM Plex Sans"/>
                <a:sym typeface="IBM Plex Sans"/>
              </a:rPr>
              <a:t>FastAPI + Streamlit serving, Optuna tuning, SHAP + attention-hook interpretability.</a:t>
            </a:r>
            <a:endParaRPr lang="en-US" sz="1100"/>
          </a:p>
        </p:txBody>
      </p:sp>
      <p:cxnSp>
        <p:nvCxnSpPr>
          <p:cNvPr name="Connector 14" id="14"/>
          <p:cNvCxnSpPr/>
          <p:nvPr/>
        </p:nvCxnSpPr>
        <p:spPr>
          <a:xfrm rot="-4297" flipH="false" flipV="false">
            <a:off x="1016004" y="5264150"/>
            <a:ext cx="10160000" cy="12700"/>
          </a:xfrm>
          <a:prstGeom prst="straightConnector1">
            <a:avLst/>
          </a:prstGeom>
          <a:solidFill>
            <a:srgbClr val="DEE0E3">
              <a:alpha val="100000"/>
            </a:srgbClr>
          </a:solidFill>
          <a:ln w="12700" cmpd="sng" cap="flat">
            <a:solidFill>
              <a:srgbClr val="C8C6BE">
                <a:alpha val="100000"/>
              </a:srgbClr>
            </a:solidFill>
            <a:prstDash val="solid"/>
            <a:round/>
            <a:headEnd type="none" w="med" len="med"/>
            <a:tailEnd type="none" w="med" len="med"/>
          </a:ln>
        </p:spPr>
      </p:cxnSp>
      <p:sp>
        <p:nvSpPr>
          <p:cNvPr name="AutoShape 15" id="15"/>
          <p:cNvSpPr txBox="true"/>
          <p:nvPr/>
        </p:nvSpPr>
        <p:spPr>
          <a:xfrm rot="0" flipH="false" flipV="false">
            <a:off x="1016000" y="5461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6A4F"/>
                </a:solidFill>
                <a:latin typeface="IBM Plex Sans"/>
                <a:ea typeface="IBM Plex Sans"/>
                <a:cs typeface="IBM Plex Sans"/>
                <a:sym typeface="IBM Plex Sans"/>
              </a:rPr>
              <a:t>Next steps:</a:t>
            </a:r>
            <a:r>
              <a:rPr lang="en-US" b="false" i="false" strike="noStrike" u="none" sz="1400">
                <a:solidFill>
                  <a:srgbClr val="464646"/>
                </a:solidFill>
                <a:latin typeface="IBM Plex Sans"/>
                <a:ea typeface="IBM Plex Sans"/>
                <a:cs typeface="IBM Plex Sans"/>
                <a:sym typeface="IBM Plex Sans"/>
              </a:rPr>
              <a:t> expand anomaly injection types and control groups, validate on additional city datasets, and experiment with dynamic graph updates in the Env branch.</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1A2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52400" cy="6858000"/>
          </a:xfrm>
          <a:prstGeom prst="roundRect">
            <a:avLst>
              <a:gd name="adj" fmla="val 0"/>
            </a:avLst>
          </a:prstGeom>
          <a:solidFill>
            <a:srgbClr val="2D6A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txBox="true"/>
          <p:nvPr/>
        </p:nvSpPr>
        <p:spPr>
          <a:xfrm rot="0" flipH="false" flipV="false">
            <a:off x="1016000" y="2540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IBM Plex Sans"/>
                <a:ea typeface="IBM Plex Sans"/>
                <a:cs typeface="IBM Plex Sans"/>
                <a:sym typeface="IBM Plex Sans"/>
              </a:rPr>
              <a:t>Thank You</a:t>
            </a:r>
            <a:endParaRPr lang="en-US" sz="1100"/>
          </a:p>
        </p:txBody>
      </p:sp>
      <p:cxnSp>
        <p:nvCxnSpPr>
          <p:cNvPr name="Connector 4" id="4"/>
          <p:cNvCxnSpPr/>
          <p:nvPr/>
        </p:nvCxnSpPr>
        <p:spPr>
          <a:xfrm rot="-28647" flipH="false" flipV="false">
            <a:off x="1016026" y="3803650"/>
            <a:ext cx="1524000" cy="12700"/>
          </a:xfrm>
          <a:prstGeom prst="straightConnector1">
            <a:avLst/>
          </a:prstGeom>
          <a:solidFill>
            <a:srgbClr val="DEE0E3">
              <a:alpha val="100000"/>
            </a:srgbClr>
          </a:solidFill>
          <a:ln w="25400" cmpd="sng" cap="flat">
            <a:solidFill>
              <a:srgbClr val="2D6A4F">
                <a:alpha val="100000"/>
              </a:srgbClr>
            </a:solidFill>
            <a:prstDash val="solid"/>
            <a:round/>
            <a:headEnd type="none" w="lg" len="lg"/>
            <a:tailEnd type="none" w="lg" len="lg"/>
          </a:ln>
        </p:spPr>
      </p:cxnSp>
      <p:sp>
        <p:nvSpPr>
          <p:cNvPr name="AutoShape 5" id="5"/>
          <p:cNvSpPr txBox="true"/>
          <p:nvPr/>
        </p:nvSpPr>
        <p:spPr>
          <a:xfrm rot="0" flipH="false" flipV="false">
            <a:off x="1016000" y="40640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FFFFFF">
                    <a:alpha val="70196"/>
                  </a:srgbClr>
                </a:solidFill>
                <a:latin typeface="IBM Plex Sans"/>
                <a:ea typeface="IBM Plex Sans"/>
                <a:cs typeface="IBM Plex Sans"/>
                <a:sym typeface="IBM Plex Sans"/>
              </a:rPr>
              <a:t>Questions &amp; discussion welcome</a:t>
            </a:r>
            <a:endParaRPr lang="en-US" sz="1100"/>
          </a:p>
        </p:txBody>
      </p:sp>
      <p:pic>
        <p:nvPicPr>
          <p:cNvPr name="Picture 6" id="6"/>
          <p:cNvPicPr>
            <a:picLocks noChangeAspect="true"/>
          </p:cNvPicPr>
          <p:nvPr/>
        </p:nvPicPr>
        <p:blipFill>
          <a:blip r:embed="rId3"/>
          <a:stretch>
            <a:fillRect/>
          </a:stretch>
        </p:blipFill>
        <p:spPr>
          <a:xfrm>
            <a:off x="10668000" y="6318250"/>
            <a:ext cx="1524000" cy="53975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{"Label":"1","ContentProducer":"001191110102MACQD9K64010000","ProduceID":"7694194021958814906","ReservedCode1":"","ContentPropagator":"","PropagateID":"","ReservedCode2":""}</vt:lpwstr>
  </property>
</Properties>
</file>